
<file path=[Content_Types].xml><?xml version="1.0" encoding="utf-8"?>
<Types xmlns="http://schemas.openxmlformats.org/package/2006/content-types">
  <Default Extension="fntdata" ContentType="application/x-fontdata"/>
  <Default Extension="gif" ContentType="image/gif"/>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9" r:id="rId5"/>
    <p:sldId id="283" r:id="rId6"/>
  </p:sldIdLst>
  <p:sldSz cx="18288000" cy="10287000"/>
  <p:notesSz cx="6858000" cy="9144000"/>
  <p:embeddedFontLst>
    <p:embeddedFont>
      <p:font typeface="Handy Casual" panose="020B0604020202020204" charset="0"/>
      <p:regular r:id="rId7"/>
    </p:embeddedFont>
    <p:embeddedFont>
      <p:font typeface="Madrid" panose="020B0604020202020204" charset="0"/>
      <p:regular r:id="rId8"/>
    </p:embeddedFont>
    <p:embeddedFont>
      <p:font typeface="TAN Headline"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94654" autoAdjust="0"/>
  </p:normalViewPr>
  <p:slideViewPr>
    <p:cSldViewPr>
      <p:cViewPr varScale="1">
        <p:scale>
          <a:sx n="46" d="100"/>
          <a:sy n="46" d="100"/>
        </p:scale>
        <p:origin x="54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jpeg"/></Relationships>
</file>

<file path=ppt/slides/_rels/slide3.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7.jf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7F1"/>
        </a:solidFill>
        <a:effectLst/>
      </p:bgPr>
    </p:bg>
    <p:spTree>
      <p:nvGrpSpPr>
        <p:cNvPr id="1" name=""/>
        <p:cNvGrpSpPr/>
        <p:nvPr/>
      </p:nvGrpSpPr>
      <p:grpSpPr>
        <a:xfrm>
          <a:off x="0" y="0"/>
          <a:ext cx="0" cy="0"/>
          <a:chOff x="0" y="0"/>
          <a:chExt cx="0" cy="0"/>
        </a:xfrm>
      </p:grpSpPr>
      <p:sp>
        <p:nvSpPr>
          <p:cNvPr id="2" name="Freeform 2"/>
          <p:cNvSpPr/>
          <p:nvPr/>
        </p:nvSpPr>
        <p:spPr>
          <a:xfrm rot="231717">
            <a:off x="-2182348" y="-1686531"/>
            <a:ext cx="10406808" cy="5430462"/>
          </a:xfrm>
          <a:custGeom>
            <a:avLst/>
            <a:gdLst/>
            <a:ahLst/>
            <a:cxnLst/>
            <a:rect l="l" t="t" r="r" b="b"/>
            <a:pathLst>
              <a:path w="10406808" h="5430462">
                <a:moveTo>
                  <a:pt x="0" y="0"/>
                </a:moveTo>
                <a:lnTo>
                  <a:pt x="10406808" y="0"/>
                </a:lnTo>
                <a:lnTo>
                  <a:pt x="10406808" y="5430462"/>
                </a:lnTo>
                <a:lnTo>
                  <a:pt x="0" y="54304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_tradnl"/>
          </a:p>
        </p:txBody>
      </p:sp>
      <p:grpSp>
        <p:nvGrpSpPr>
          <p:cNvPr id="3" name="Group 3"/>
          <p:cNvGrpSpPr/>
          <p:nvPr/>
        </p:nvGrpSpPr>
        <p:grpSpPr>
          <a:xfrm>
            <a:off x="9465561" y="2460568"/>
            <a:ext cx="681985" cy="68198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7CFF"/>
            </a:solidFill>
          </p:spPr>
          <p:txBody>
            <a:bodyPr/>
            <a:lstStyle/>
            <a:p>
              <a:endParaRPr lang="es-ES_tradnl"/>
            </a:p>
          </p:txBody>
        </p:sp>
        <p:sp>
          <p:nvSpPr>
            <p:cNvPr id="5" name="TextBox 5"/>
            <p:cNvSpPr txBox="1"/>
            <p:nvPr/>
          </p:nvSpPr>
          <p:spPr>
            <a:xfrm>
              <a:off x="76200" y="0"/>
              <a:ext cx="660400" cy="736600"/>
            </a:xfrm>
            <a:prstGeom prst="rect">
              <a:avLst/>
            </a:prstGeom>
          </p:spPr>
          <p:txBody>
            <a:bodyPr lIns="0" tIns="0" rIns="0" bIns="0" rtlCol="0" anchor="ctr"/>
            <a:lstStyle/>
            <a:p>
              <a:pPr algn="ctr">
                <a:lnSpc>
                  <a:spcPts val="4339"/>
                </a:lnSpc>
              </a:pPr>
              <a:endParaRPr/>
            </a:p>
          </p:txBody>
        </p:sp>
      </p:grpSp>
      <p:sp>
        <p:nvSpPr>
          <p:cNvPr id="6" name="TextBox 6"/>
          <p:cNvSpPr txBox="1"/>
          <p:nvPr/>
        </p:nvSpPr>
        <p:spPr>
          <a:xfrm>
            <a:off x="9570032" y="2432162"/>
            <a:ext cx="473043" cy="662596"/>
          </a:xfrm>
          <a:prstGeom prst="rect">
            <a:avLst/>
          </a:prstGeom>
        </p:spPr>
        <p:txBody>
          <a:bodyPr lIns="0" tIns="0" rIns="0" bIns="0" rtlCol="0" anchor="t">
            <a:spAutoFit/>
          </a:bodyPr>
          <a:lstStyle/>
          <a:p>
            <a:pPr algn="ctr">
              <a:lnSpc>
                <a:spcPts val="5465"/>
              </a:lnSpc>
              <a:spcBef>
                <a:spcPct val="0"/>
              </a:spcBef>
            </a:pPr>
            <a:r>
              <a:rPr lang="en-US" sz="3903" spc="78">
                <a:solidFill>
                  <a:srgbClr val="FFFFFF"/>
                </a:solidFill>
                <a:latin typeface="TAN Headline"/>
                <a:ea typeface="TAN Headline"/>
                <a:cs typeface="TAN Headline"/>
                <a:sym typeface="TAN Headline"/>
              </a:rPr>
              <a:t>1</a:t>
            </a:r>
          </a:p>
        </p:txBody>
      </p:sp>
      <p:sp>
        <p:nvSpPr>
          <p:cNvPr id="7" name="TextBox 7"/>
          <p:cNvSpPr txBox="1"/>
          <p:nvPr/>
        </p:nvSpPr>
        <p:spPr>
          <a:xfrm>
            <a:off x="10207566" y="2557085"/>
            <a:ext cx="5590653" cy="431800"/>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Handy Casual"/>
                <a:ea typeface="Handy Casual"/>
                <a:cs typeface="Handy Casual"/>
                <a:sym typeface="Handy Casual"/>
              </a:rPr>
              <a:t>WHAT DID WE LEARNED? </a:t>
            </a:r>
          </a:p>
        </p:txBody>
      </p:sp>
      <p:sp>
        <p:nvSpPr>
          <p:cNvPr id="8" name="Freeform 8"/>
          <p:cNvSpPr/>
          <p:nvPr/>
        </p:nvSpPr>
        <p:spPr>
          <a:xfrm>
            <a:off x="10404938" y="3099687"/>
            <a:ext cx="3072900" cy="3960055"/>
          </a:xfrm>
          <a:custGeom>
            <a:avLst/>
            <a:gdLst/>
            <a:ahLst/>
            <a:cxnLst/>
            <a:rect l="l" t="t" r="r" b="b"/>
            <a:pathLst>
              <a:path w="3072900" h="3960055">
                <a:moveTo>
                  <a:pt x="0" y="0"/>
                </a:moveTo>
                <a:lnTo>
                  <a:pt x="3072901" y="0"/>
                </a:lnTo>
                <a:lnTo>
                  <a:pt x="3072901" y="3960055"/>
                </a:lnTo>
                <a:lnTo>
                  <a:pt x="0" y="3960055"/>
                </a:lnTo>
                <a:lnTo>
                  <a:pt x="0" y="0"/>
                </a:lnTo>
                <a:close/>
              </a:path>
            </a:pathLst>
          </a:custGeom>
          <a:blipFill>
            <a:blip r:embed="rId4">
              <a:extLst>
                <a:ext uri="{96DAC541-7B7A-43D3-8B79-37D633B846F1}">
                  <asvg:svgBlip xmlns:asvg="http://schemas.microsoft.com/office/drawing/2016/SVG/main" r:embed="rId5"/>
                </a:ext>
              </a:extLst>
            </a:blip>
            <a:stretch>
              <a:fillRect l="-14435" r="-14435"/>
            </a:stretch>
          </a:blipFill>
        </p:spPr>
        <p:txBody>
          <a:bodyPr/>
          <a:lstStyle/>
          <a:p>
            <a:endParaRPr lang="es-ES_tradnl"/>
          </a:p>
        </p:txBody>
      </p:sp>
      <p:sp>
        <p:nvSpPr>
          <p:cNvPr id="9" name="TextBox 9"/>
          <p:cNvSpPr txBox="1"/>
          <p:nvPr/>
        </p:nvSpPr>
        <p:spPr>
          <a:xfrm>
            <a:off x="10699768" y="3531295"/>
            <a:ext cx="2303125" cy="2957181"/>
          </a:xfrm>
          <a:prstGeom prst="rect">
            <a:avLst/>
          </a:prstGeom>
        </p:spPr>
        <p:txBody>
          <a:bodyPr lIns="0" tIns="0" rIns="0" bIns="0" rtlCol="0" anchor="t">
            <a:spAutoFit/>
          </a:bodyPr>
          <a:lstStyle/>
          <a:p>
            <a:pPr algn="l">
              <a:lnSpc>
                <a:spcPts val="2421"/>
              </a:lnSpc>
            </a:pPr>
            <a:r>
              <a:rPr lang="en-US" sz="2018">
                <a:solidFill>
                  <a:srgbClr val="231F20"/>
                </a:solidFill>
                <a:latin typeface="Handy Casual"/>
                <a:ea typeface="Handy Casual"/>
                <a:cs typeface="Handy Casual"/>
                <a:sym typeface="Handy Casual"/>
              </a:rPr>
              <a:t>LAW STUDENTS:</a:t>
            </a:r>
          </a:p>
          <a:p>
            <a:pPr marL="435691" lvl="1" indent="-217845" algn="l">
              <a:lnSpc>
                <a:spcPts val="2421"/>
              </a:lnSpc>
              <a:buFont typeface="Arial"/>
              <a:buChar char="•"/>
            </a:pPr>
            <a:r>
              <a:rPr lang="en-US" sz="2018">
                <a:solidFill>
                  <a:srgbClr val="231F20"/>
                </a:solidFill>
                <a:latin typeface="Handy Casual"/>
                <a:ea typeface="Handy Casual"/>
                <a:cs typeface="Handy Casual"/>
                <a:sym typeface="Handy Casual"/>
              </a:rPr>
              <a:t>How a system is deployed </a:t>
            </a:r>
          </a:p>
          <a:p>
            <a:pPr marL="435691" lvl="1" indent="-217845" algn="l">
              <a:lnSpc>
                <a:spcPts val="2421"/>
              </a:lnSpc>
              <a:buFont typeface="Arial"/>
              <a:buChar char="•"/>
            </a:pPr>
            <a:r>
              <a:rPr lang="en-US" sz="2018">
                <a:solidFill>
                  <a:srgbClr val="231F20"/>
                </a:solidFill>
                <a:latin typeface="Handy Casual"/>
                <a:ea typeface="Handy Casual"/>
                <a:cs typeface="Handy Casual"/>
                <a:sym typeface="Handy Casual"/>
              </a:rPr>
              <a:t>What does it look like in the system when we ask for compliance? </a:t>
            </a:r>
          </a:p>
          <a:p>
            <a:pPr marL="435691" lvl="1" indent="-217845" algn="l">
              <a:lnSpc>
                <a:spcPts val="2421"/>
              </a:lnSpc>
              <a:buFont typeface="Arial"/>
              <a:buChar char="•"/>
            </a:pPr>
            <a:r>
              <a:rPr lang="en-US" sz="2018">
                <a:solidFill>
                  <a:srgbClr val="231F20"/>
                </a:solidFill>
                <a:latin typeface="Handy Casual"/>
                <a:ea typeface="Handy Casual"/>
                <a:cs typeface="Handy Casual"/>
                <a:sym typeface="Handy Casual"/>
              </a:rPr>
              <a:t>The existence of technical tools (SHAFT and FAIRLINK) </a:t>
            </a:r>
          </a:p>
        </p:txBody>
      </p:sp>
      <p:sp>
        <p:nvSpPr>
          <p:cNvPr id="10" name="Freeform 10"/>
          <p:cNvSpPr/>
          <p:nvPr/>
        </p:nvSpPr>
        <p:spPr>
          <a:xfrm>
            <a:off x="13621400" y="2988885"/>
            <a:ext cx="3275259" cy="4051597"/>
          </a:xfrm>
          <a:custGeom>
            <a:avLst/>
            <a:gdLst/>
            <a:ahLst/>
            <a:cxnLst/>
            <a:rect l="l" t="t" r="r" b="b"/>
            <a:pathLst>
              <a:path w="3275259" h="4051597">
                <a:moveTo>
                  <a:pt x="0" y="0"/>
                </a:moveTo>
                <a:lnTo>
                  <a:pt x="3275258" y="0"/>
                </a:lnTo>
                <a:lnTo>
                  <a:pt x="3275258" y="4051597"/>
                </a:lnTo>
                <a:lnTo>
                  <a:pt x="0" y="4051597"/>
                </a:lnTo>
                <a:lnTo>
                  <a:pt x="0" y="0"/>
                </a:lnTo>
                <a:close/>
              </a:path>
            </a:pathLst>
          </a:custGeom>
          <a:blipFill>
            <a:blip r:embed="rId6">
              <a:extLst>
                <a:ext uri="{96DAC541-7B7A-43D3-8B79-37D633B846F1}">
                  <asvg:svgBlip xmlns:asvg="http://schemas.microsoft.com/office/drawing/2016/SVG/main" r:embed="rId7"/>
                </a:ext>
              </a:extLst>
            </a:blip>
            <a:stretch>
              <a:fillRect l="-11851" r="-11851"/>
            </a:stretch>
          </a:blipFill>
        </p:spPr>
        <p:txBody>
          <a:bodyPr/>
          <a:lstStyle/>
          <a:p>
            <a:endParaRPr lang="es-ES_tradnl"/>
          </a:p>
        </p:txBody>
      </p:sp>
      <p:sp>
        <p:nvSpPr>
          <p:cNvPr id="11" name="TextBox 11"/>
          <p:cNvSpPr txBox="1"/>
          <p:nvPr/>
        </p:nvSpPr>
        <p:spPr>
          <a:xfrm>
            <a:off x="13826516" y="3521770"/>
            <a:ext cx="2865025" cy="3438525"/>
          </a:xfrm>
          <a:prstGeom prst="rect">
            <a:avLst/>
          </a:prstGeom>
        </p:spPr>
        <p:txBody>
          <a:bodyPr lIns="0" tIns="0" rIns="0" bIns="0" rtlCol="0" anchor="t">
            <a:spAutoFit/>
          </a:bodyPr>
          <a:lstStyle/>
          <a:p>
            <a:pPr algn="l">
              <a:lnSpc>
                <a:spcPts val="2305"/>
              </a:lnSpc>
            </a:pPr>
            <a:r>
              <a:rPr lang="en-US" sz="1921">
                <a:solidFill>
                  <a:srgbClr val="231F20"/>
                </a:solidFill>
                <a:latin typeface="Handy Casual"/>
                <a:ea typeface="Handy Casual"/>
                <a:cs typeface="Handy Casual"/>
                <a:sym typeface="Handy Casual"/>
              </a:rPr>
              <a:t>CS STUDENTS:</a:t>
            </a:r>
          </a:p>
          <a:p>
            <a:pPr marL="414787" lvl="1" indent="-207394" algn="l">
              <a:lnSpc>
                <a:spcPts val="2305"/>
              </a:lnSpc>
              <a:buFont typeface="Arial"/>
              <a:buChar char="•"/>
            </a:pPr>
            <a:r>
              <a:rPr lang="en-US" sz="1921">
                <a:solidFill>
                  <a:srgbClr val="231F20"/>
                </a:solidFill>
                <a:latin typeface="Handy Casual"/>
                <a:ea typeface="Handy Casual"/>
                <a:cs typeface="Handy Casual"/>
                <a:sym typeface="Handy Casual"/>
              </a:rPr>
              <a:t>The importance of complying with the regulations, specifically the GDPR</a:t>
            </a:r>
          </a:p>
          <a:p>
            <a:pPr marL="414787" lvl="1" indent="-207394" algn="l">
              <a:lnSpc>
                <a:spcPts val="2305"/>
              </a:lnSpc>
              <a:buFont typeface="Arial"/>
              <a:buChar char="•"/>
            </a:pPr>
            <a:r>
              <a:rPr lang="en-US" sz="1921">
                <a:solidFill>
                  <a:srgbClr val="231F20"/>
                </a:solidFill>
                <a:latin typeface="Handy Casual"/>
                <a:ea typeface="Handy Casual"/>
                <a:cs typeface="Handy Casual"/>
                <a:sym typeface="Handy Casual"/>
              </a:rPr>
              <a:t>My system can not only be technical, but it also needs an ethical approach </a:t>
            </a:r>
          </a:p>
          <a:p>
            <a:pPr marL="414787" lvl="1" indent="-207394" algn="l">
              <a:lnSpc>
                <a:spcPts val="2305"/>
              </a:lnSpc>
              <a:buFont typeface="Arial"/>
              <a:buChar char="•"/>
            </a:pPr>
            <a:r>
              <a:rPr lang="en-US" sz="1921">
                <a:solidFill>
                  <a:srgbClr val="231F20"/>
                </a:solidFill>
                <a:latin typeface="Handy Casual"/>
                <a:ea typeface="Handy Casual"/>
                <a:cs typeface="Handy Casual"/>
                <a:sym typeface="Handy Casual"/>
              </a:rPr>
              <a:t>Assessments of risk in the development of the system </a:t>
            </a:r>
          </a:p>
          <a:p>
            <a:pPr marL="414787" lvl="1" indent="-207394" algn="l">
              <a:lnSpc>
                <a:spcPts val="2305"/>
              </a:lnSpc>
              <a:buFont typeface="Arial"/>
              <a:buChar char="•"/>
            </a:pPr>
            <a:r>
              <a:rPr lang="en-US" sz="1921">
                <a:solidFill>
                  <a:srgbClr val="231F20"/>
                </a:solidFill>
                <a:latin typeface="Handy Casual"/>
                <a:ea typeface="Handy Casual"/>
                <a:cs typeface="Handy Casual"/>
                <a:sym typeface="Handy Casual"/>
              </a:rPr>
              <a:t>Principles of data protection - ART 5 GDPR! (lawfulness, fairnes and transparency)</a:t>
            </a:r>
          </a:p>
        </p:txBody>
      </p:sp>
      <p:grpSp>
        <p:nvGrpSpPr>
          <p:cNvPr id="12" name="Group 12"/>
          <p:cNvGrpSpPr/>
          <p:nvPr/>
        </p:nvGrpSpPr>
        <p:grpSpPr>
          <a:xfrm>
            <a:off x="1297081" y="3311050"/>
            <a:ext cx="681985" cy="681985"/>
            <a:chOff x="0" y="0"/>
            <a:chExt cx="909313" cy="909313"/>
          </a:xfrm>
        </p:grpSpPr>
        <p:grpSp>
          <p:nvGrpSpPr>
            <p:cNvPr id="13" name="Group 13"/>
            <p:cNvGrpSpPr/>
            <p:nvPr/>
          </p:nvGrpSpPr>
          <p:grpSpPr>
            <a:xfrm>
              <a:off x="0" y="0"/>
              <a:ext cx="909313" cy="90931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7CFF"/>
              </a:solidFill>
            </p:spPr>
            <p:txBody>
              <a:bodyPr/>
              <a:lstStyle/>
              <a:p>
                <a:endParaRPr lang="es-ES_tradnl"/>
              </a:p>
            </p:txBody>
          </p:sp>
          <p:sp>
            <p:nvSpPr>
              <p:cNvPr id="15" name="TextBox 15"/>
              <p:cNvSpPr txBox="1"/>
              <p:nvPr/>
            </p:nvSpPr>
            <p:spPr>
              <a:xfrm>
                <a:off x="76200" y="0"/>
                <a:ext cx="660400" cy="736600"/>
              </a:xfrm>
              <a:prstGeom prst="rect">
                <a:avLst/>
              </a:prstGeom>
            </p:spPr>
            <p:txBody>
              <a:bodyPr lIns="0" tIns="0" rIns="0" bIns="0" rtlCol="0" anchor="ctr"/>
              <a:lstStyle/>
              <a:p>
                <a:pPr algn="ctr">
                  <a:lnSpc>
                    <a:spcPts val="4339"/>
                  </a:lnSpc>
                </a:pPr>
                <a:endParaRPr/>
              </a:p>
            </p:txBody>
          </p:sp>
        </p:grpSp>
        <p:sp>
          <p:nvSpPr>
            <p:cNvPr id="16" name="TextBox 16"/>
            <p:cNvSpPr txBox="1"/>
            <p:nvPr/>
          </p:nvSpPr>
          <p:spPr>
            <a:xfrm>
              <a:off x="139295" y="-7517"/>
              <a:ext cx="630724" cy="858062"/>
            </a:xfrm>
            <a:prstGeom prst="rect">
              <a:avLst/>
            </a:prstGeom>
          </p:spPr>
          <p:txBody>
            <a:bodyPr lIns="0" tIns="0" rIns="0" bIns="0" rtlCol="0" anchor="t">
              <a:spAutoFit/>
            </a:bodyPr>
            <a:lstStyle/>
            <a:p>
              <a:pPr algn="ctr">
                <a:lnSpc>
                  <a:spcPts val="5465"/>
                </a:lnSpc>
                <a:spcBef>
                  <a:spcPct val="0"/>
                </a:spcBef>
              </a:pPr>
              <a:r>
                <a:rPr lang="en-US" sz="3903" spc="78">
                  <a:solidFill>
                    <a:srgbClr val="FFFFFF"/>
                  </a:solidFill>
                  <a:latin typeface="TAN Headline"/>
                  <a:ea typeface="TAN Headline"/>
                  <a:cs typeface="TAN Headline"/>
                  <a:sym typeface="TAN Headline"/>
                </a:rPr>
                <a:t>2</a:t>
              </a:r>
            </a:p>
          </p:txBody>
        </p:sp>
      </p:grpSp>
      <p:grpSp>
        <p:nvGrpSpPr>
          <p:cNvPr id="17" name="Group 17"/>
          <p:cNvGrpSpPr/>
          <p:nvPr/>
        </p:nvGrpSpPr>
        <p:grpSpPr>
          <a:xfrm>
            <a:off x="-105929" y="6206229"/>
            <a:ext cx="6814933" cy="6559433"/>
            <a:chOff x="30480" y="591820"/>
            <a:chExt cx="12736830" cy="12259310"/>
          </a:xfrm>
        </p:grpSpPr>
        <p:sp>
          <p:nvSpPr>
            <p:cNvPr id="18" name="Freeform 18"/>
            <p:cNvSpPr/>
            <p:nvPr/>
          </p:nvSpPr>
          <p:spPr>
            <a:xfrm>
              <a:off x="0" y="0"/>
              <a:ext cx="12736830" cy="12259310"/>
            </a:xfrm>
            <a:custGeom>
              <a:avLst/>
              <a:gdLst/>
              <a:ahLst/>
              <a:cxnLst/>
              <a:rect l="l" t="t" r="r" b="b"/>
              <a:pathLst>
                <a:path w="12736830" h="12259310">
                  <a:moveTo>
                    <a:pt x="11925300" y="4271010"/>
                  </a:moveTo>
                  <a:cubicBezTo>
                    <a:pt x="10819130" y="2120900"/>
                    <a:pt x="8590280"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20"/>
                    <a:pt x="1822450" y="10811510"/>
                    <a:pt x="2842260" y="11203940"/>
                  </a:cubicBezTo>
                  <a:cubicBezTo>
                    <a:pt x="5585460" y="12259310"/>
                    <a:pt x="8953501"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8"/>
              <a:stretch>
                <a:fillRect r="-22930"/>
              </a:stretch>
            </a:blipFill>
          </p:spPr>
          <p:txBody>
            <a:bodyPr/>
            <a:lstStyle/>
            <a:p>
              <a:endParaRPr lang="es-ES_tradnl"/>
            </a:p>
          </p:txBody>
        </p:sp>
      </p:grpSp>
      <p:sp>
        <p:nvSpPr>
          <p:cNvPr id="19" name="TextBox 19"/>
          <p:cNvSpPr txBox="1"/>
          <p:nvPr/>
        </p:nvSpPr>
        <p:spPr>
          <a:xfrm>
            <a:off x="2204985" y="5728181"/>
            <a:ext cx="7261831" cy="1259608"/>
          </a:xfrm>
          <a:prstGeom prst="rect">
            <a:avLst/>
          </a:prstGeom>
        </p:spPr>
        <p:txBody>
          <a:bodyPr lIns="0" tIns="0" rIns="0" bIns="0" rtlCol="0" anchor="t">
            <a:spAutoFit/>
          </a:bodyPr>
          <a:lstStyle/>
          <a:p>
            <a:pPr marL="517949" lvl="1" indent="-258975" algn="l">
              <a:lnSpc>
                <a:spcPts val="3310"/>
              </a:lnSpc>
              <a:buFont typeface="Arial"/>
              <a:buChar char="•"/>
            </a:pPr>
            <a:r>
              <a:rPr lang="en-US" sz="2399">
                <a:solidFill>
                  <a:srgbClr val="000000"/>
                </a:solidFill>
                <a:latin typeface="Handy Casual"/>
                <a:ea typeface="Handy Casual"/>
                <a:cs typeface="Handy Casual"/>
                <a:sym typeface="Handy Casual"/>
              </a:rPr>
              <a:t>CS students went directly to two questions. How are we building the system, and what are we doing to prevent bias? It was focused in is my system working?  </a:t>
            </a:r>
          </a:p>
        </p:txBody>
      </p:sp>
      <p:sp>
        <p:nvSpPr>
          <p:cNvPr id="20" name="Freeform 20"/>
          <p:cNvSpPr/>
          <p:nvPr/>
        </p:nvSpPr>
        <p:spPr>
          <a:xfrm rot="-10800000">
            <a:off x="-3798639" y="8684891"/>
            <a:ext cx="11594212" cy="1602109"/>
          </a:xfrm>
          <a:custGeom>
            <a:avLst/>
            <a:gdLst/>
            <a:ahLst/>
            <a:cxnLst/>
            <a:rect l="l" t="t" r="r" b="b"/>
            <a:pathLst>
              <a:path w="11594212" h="1602109">
                <a:moveTo>
                  <a:pt x="0" y="0"/>
                </a:moveTo>
                <a:lnTo>
                  <a:pt x="11594211" y="0"/>
                </a:lnTo>
                <a:lnTo>
                  <a:pt x="11594211" y="1602109"/>
                </a:lnTo>
                <a:lnTo>
                  <a:pt x="0" y="16021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ES_tradnl"/>
          </a:p>
        </p:txBody>
      </p:sp>
      <p:sp>
        <p:nvSpPr>
          <p:cNvPr id="21" name="TextBox 21"/>
          <p:cNvSpPr txBox="1"/>
          <p:nvPr/>
        </p:nvSpPr>
        <p:spPr>
          <a:xfrm rot="-63254">
            <a:off x="7810129" y="964260"/>
            <a:ext cx="7194853" cy="1591312"/>
          </a:xfrm>
          <a:prstGeom prst="rect">
            <a:avLst/>
          </a:prstGeom>
        </p:spPr>
        <p:txBody>
          <a:bodyPr lIns="0" tIns="0" rIns="0" bIns="0" rtlCol="0" anchor="t">
            <a:spAutoFit/>
          </a:bodyPr>
          <a:lstStyle/>
          <a:p>
            <a:pPr algn="r">
              <a:lnSpc>
                <a:spcPts val="4180"/>
              </a:lnSpc>
            </a:pPr>
            <a:r>
              <a:rPr lang="en-US" sz="3800">
                <a:solidFill>
                  <a:srgbClr val="000000"/>
                </a:solidFill>
                <a:latin typeface="Madrid"/>
                <a:ea typeface="Madrid"/>
                <a:cs typeface="Madrid"/>
                <a:sym typeface="Madrid"/>
              </a:rPr>
              <a:t>UNDERSTANDING BIAS IN ALGORITHMS AND LEGAL SOLUTIONS </a:t>
            </a:r>
          </a:p>
        </p:txBody>
      </p:sp>
      <p:sp>
        <p:nvSpPr>
          <p:cNvPr id="22" name="Freeform 22"/>
          <p:cNvSpPr/>
          <p:nvPr/>
        </p:nvSpPr>
        <p:spPr>
          <a:xfrm>
            <a:off x="10023135" y="0"/>
            <a:ext cx="10847286" cy="1498898"/>
          </a:xfrm>
          <a:custGeom>
            <a:avLst/>
            <a:gdLst/>
            <a:ahLst/>
            <a:cxnLst/>
            <a:rect l="l" t="t" r="r" b="b"/>
            <a:pathLst>
              <a:path w="10847286" h="1498898">
                <a:moveTo>
                  <a:pt x="0" y="0"/>
                </a:moveTo>
                <a:lnTo>
                  <a:pt x="10847286" y="0"/>
                </a:lnTo>
                <a:lnTo>
                  <a:pt x="10847286" y="1498898"/>
                </a:lnTo>
                <a:lnTo>
                  <a:pt x="0" y="149889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ES_tradnl"/>
          </a:p>
        </p:txBody>
      </p:sp>
      <p:sp>
        <p:nvSpPr>
          <p:cNvPr id="23" name="Freeform 23"/>
          <p:cNvSpPr/>
          <p:nvPr/>
        </p:nvSpPr>
        <p:spPr>
          <a:xfrm rot="-3617189" flipH="1">
            <a:off x="16796395" y="8061809"/>
            <a:ext cx="2983210" cy="2891002"/>
          </a:xfrm>
          <a:custGeom>
            <a:avLst/>
            <a:gdLst/>
            <a:ahLst/>
            <a:cxnLst/>
            <a:rect l="l" t="t" r="r" b="b"/>
            <a:pathLst>
              <a:path w="2983210" h="2891002">
                <a:moveTo>
                  <a:pt x="2983210" y="0"/>
                </a:moveTo>
                <a:lnTo>
                  <a:pt x="0" y="0"/>
                </a:lnTo>
                <a:lnTo>
                  <a:pt x="0" y="2891002"/>
                </a:lnTo>
                <a:lnTo>
                  <a:pt x="2983210" y="2891002"/>
                </a:lnTo>
                <a:lnTo>
                  <a:pt x="298321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s-ES_tradnl"/>
          </a:p>
        </p:txBody>
      </p:sp>
      <p:sp>
        <p:nvSpPr>
          <p:cNvPr id="24" name="Freeform 24"/>
          <p:cNvSpPr/>
          <p:nvPr/>
        </p:nvSpPr>
        <p:spPr>
          <a:xfrm>
            <a:off x="5022487" y="7495347"/>
            <a:ext cx="3373036" cy="691472"/>
          </a:xfrm>
          <a:custGeom>
            <a:avLst/>
            <a:gdLst/>
            <a:ahLst/>
            <a:cxnLst/>
            <a:rect l="l" t="t" r="r" b="b"/>
            <a:pathLst>
              <a:path w="3373036" h="691472">
                <a:moveTo>
                  <a:pt x="0" y="0"/>
                </a:moveTo>
                <a:lnTo>
                  <a:pt x="3373035" y="0"/>
                </a:lnTo>
                <a:lnTo>
                  <a:pt x="3373035" y="691473"/>
                </a:lnTo>
                <a:lnTo>
                  <a:pt x="0" y="69147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s-ES_tradnl"/>
          </a:p>
        </p:txBody>
      </p:sp>
      <p:grpSp>
        <p:nvGrpSpPr>
          <p:cNvPr id="25" name="Group 25"/>
          <p:cNvGrpSpPr/>
          <p:nvPr/>
        </p:nvGrpSpPr>
        <p:grpSpPr>
          <a:xfrm>
            <a:off x="5720345" y="7495347"/>
            <a:ext cx="6568725" cy="681985"/>
            <a:chOff x="0" y="0"/>
            <a:chExt cx="8758301" cy="909313"/>
          </a:xfrm>
        </p:grpSpPr>
        <p:grpSp>
          <p:nvGrpSpPr>
            <p:cNvPr id="26" name="Group 26"/>
            <p:cNvGrpSpPr/>
            <p:nvPr/>
          </p:nvGrpSpPr>
          <p:grpSpPr>
            <a:xfrm>
              <a:off x="0" y="0"/>
              <a:ext cx="909313" cy="90931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17CFF"/>
              </a:solidFill>
            </p:spPr>
            <p:txBody>
              <a:bodyPr/>
              <a:lstStyle/>
              <a:p>
                <a:endParaRPr lang="es-ES_tradnl"/>
              </a:p>
            </p:txBody>
          </p:sp>
          <p:sp>
            <p:nvSpPr>
              <p:cNvPr id="28" name="TextBox 28"/>
              <p:cNvSpPr txBox="1"/>
              <p:nvPr/>
            </p:nvSpPr>
            <p:spPr>
              <a:xfrm>
                <a:off x="76200" y="0"/>
                <a:ext cx="660400" cy="736600"/>
              </a:xfrm>
              <a:prstGeom prst="rect">
                <a:avLst/>
              </a:prstGeom>
            </p:spPr>
            <p:txBody>
              <a:bodyPr lIns="0" tIns="0" rIns="0" bIns="0" rtlCol="0" anchor="ctr"/>
              <a:lstStyle/>
              <a:p>
                <a:pPr algn="ctr">
                  <a:lnSpc>
                    <a:spcPts val="4339"/>
                  </a:lnSpc>
                </a:pPr>
                <a:endParaRPr/>
              </a:p>
            </p:txBody>
          </p:sp>
        </p:grpSp>
        <p:sp>
          <p:nvSpPr>
            <p:cNvPr id="29" name="TextBox 29"/>
            <p:cNvSpPr txBox="1"/>
            <p:nvPr/>
          </p:nvSpPr>
          <p:spPr>
            <a:xfrm>
              <a:off x="139295" y="-7517"/>
              <a:ext cx="630724" cy="858062"/>
            </a:xfrm>
            <a:prstGeom prst="rect">
              <a:avLst/>
            </a:prstGeom>
          </p:spPr>
          <p:txBody>
            <a:bodyPr lIns="0" tIns="0" rIns="0" bIns="0" rtlCol="0" anchor="t">
              <a:spAutoFit/>
            </a:bodyPr>
            <a:lstStyle/>
            <a:p>
              <a:pPr algn="ctr">
                <a:lnSpc>
                  <a:spcPts val="5465"/>
                </a:lnSpc>
                <a:spcBef>
                  <a:spcPct val="0"/>
                </a:spcBef>
              </a:pPr>
              <a:r>
                <a:rPr lang="en-US" sz="3903" spc="78">
                  <a:solidFill>
                    <a:srgbClr val="FFFFFF"/>
                  </a:solidFill>
                  <a:latin typeface="TAN Headline"/>
                  <a:ea typeface="TAN Headline"/>
                  <a:cs typeface="TAN Headline"/>
                  <a:sym typeface="TAN Headline"/>
                </a:rPr>
                <a:t>3</a:t>
              </a:r>
            </a:p>
          </p:txBody>
        </p:sp>
        <p:sp>
          <p:nvSpPr>
            <p:cNvPr id="30" name="TextBox 30"/>
            <p:cNvSpPr txBox="1"/>
            <p:nvPr/>
          </p:nvSpPr>
          <p:spPr>
            <a:xfrm>
              <a:off x="964564" y="154668"/>
              <a:ext cx="7793737" cy="542828"/>
            </a:xfrm>
            <a:prstGeom prst="rect">
              <a:avLst/>
            </a:prstGeom>
          </p:spPr>
          <p:txBody>
            <a:bodyPr lIns="0" tIns="0" rIns="0" bIns="0" rtlCol="0" anchor="t">
              <a:spAutoFit/>
            </a:bodyPr>
            <a:lstStyle/>
            <a:p>
              <a:pPr algn="l">
                <a:lnSpc>
                  <a:spcPts val="3310"/>
                </a:lnSpc>
              </a:pPr>
              <a:r>
                <a:rPr lang="en-US" sz="2399">
                  <a:solidFill>
                    <a:srgbClr val="000000"/>
                  </a:solidFill>
                  <a:latin typeface="Handy Casual"/>
                  <a:ea typeface="Handy Casual"/>
                  <a:cs typeface="Handy Casual"/>
                  <a:sym typeface="Handy Casual"/>
                </a:rPr>
                <a:t>OUR SOLUTION</a:t>
              </a:r>
            </a:p>
          </p:txBody>
        </p:sp>
      </p:grpSp>
      <p:sp>
        <p:nvSpPr>
          <p:cNvPr id="31" name="TextBox 31"/>
          <p:cNvSpPr txBox="1"/>
          <p:nvPr/>
        </p:nvSpPr>
        <p:spPr>
          <a:xfrm>
            <a:off x="2089429" y="3892226"/>
            <a:ext cx="7261831" cy="1678708"/>
          </a:xfrm>
          <a:prstGeom prst="rect">
            <a:avLst/>
          </a:prstGeom>
        </p:spPr>
        <p:txBody>
          <a:bodyPr lIns="0" tIns="0" rIns="0" bIns="0" rtlCol="0" anchor="t">
            <a:spAutoFit/>
          </a:bodyPr>
          <a:lstStyle/>
          <a:p>
            <a:pPr marL="517949" lvl="1" indent="-258975" algn="l">
              <a:lnSpc>
                <a:spcPts val="3310"/>
              </a:lnSpc>
              <a:buFont typeface="Arial"/>
              <a:buChar char="•"/>
            </a:pPr>
            <a:r>
              <a:rPr lang="en-US" sz="2399">
                <a:solidFill>
                  <a:srgbClr val="000000"/>
                </a:solidFill>
                <a:latin typeface="Handy Casual"/>
                <a:ea typeface="Handy Casual"/>
                <a:cs typeface="Handy Casual"/>
                <a:sym typeface="Handy Casual"/>
              </a:rPr>
              <a:t>As law students our first instinct was to approach the “bias in agorithim and solutions” task with a plan on how was data being treated and proetcted and if the result of the system adhere to nondiscriminatory policies</a:t>
            </a:r>
          </a:p>
        </p:txBody>
      </p:sp>
      <p:sp>
        <p:nvSpPr>
          <p:cNvPr id="32" name="TextBox 32"/>
          <p:cNvSpPr txBox="1"/>
          <p:nvPr/>
        </p:nvSpPr>
        <p:spPr>
          <a:xfrm>
            <a:off x="2189827" y="3412764"/>
            <a:ext cx="5845302" cy="421408"/>
          </a:xfrm>
          <a:prstGeom prst="rect">
            <a:avLst/>
          </a:prstGeom>
        </p:spPr>
        <p:txBody>
          <a:bodyPr lIns="0" tIns="0" rIns="0" bIns="0" rtlCol="0" anchor="t">
            <a:spAutoFit/>
          </a:bodyPr>
          <a:lstStyle/>
          <a:p>
            <a:pPr algn="l">
              <a:lnSpc>
                <a:spcPts val="3310"/>
              </a:lnSpc>
            </a:pPr>
            <a:r>
              <a:rPr lang="en-US" sz="2399">
                <a:solidFill>
                  <a:srgbClr val="000000"/>
                </a:solidFill>
                <a:latin typeface="Handy Casual"/>
                <a:ea typeface="Handy Casual"/>
                <a:cs typeface="Handy Casual"/>
                <a:sym typeface="Handy Casual"/>
              </a:rPr>
              <a:t>what did we asked ourselves from our background?</a:t>
            </a:r>
          </a:p>
        </p:txBody>
      </p:sp>
      <p:sp>
        <p:nvSpPr>
          <p:cNvPr id="33" name="TextBox 33"/>
          <p:cNvSpPr txBox="1"/>
          <p:nvPr/>
        </p:nvSpPr>
        <p:spPr>
          <a:xfrm rot="282144">
            <a:off x="1328724" y="1141516"/>
            <a:ext cx="5283906" cy="988936"/>
          </a:xfrm>
          <a:prstGeom prst="rect">
            <a:avLst/>
          </a:prstGeom>
        </p:spPr>
        <p:txBody>
          <a:bodyPr lIns="0" tIns="0" rIns="0" bIns="0" rtlCol="0" anchor="t">
            <a:spAutoFit/>
          </a:bodyPr>
          <a:lstStyle/>
          <a:p>
            <a:pPr algn="l">
              <a:lnSpc>
                <a:spcPts val="7570"/>
              </a:lnSpc>
            </a:pPr>
            <a:r>
              <a:rPr lang="en-US" sz="6882">
                <a:solidFill>
                  <a:srgbClr val="000000"/>
                </a:solidFill>
                <a:latin typeface="TAN Headline"/>
                <a:ea typeface="TAN Headline"/>
                <a:cs typeface="TAN Headline"/>
                <a:sym typeface="TAN Headline"/>
              </a:rPr>
              <a:t>Reflection</a:t>
            </a:r>
          </a:p>
        </p:txBody>
      </p:sp>
      <p:sp>
        <p:nvSpPr>
          <p:cNvPr id="34" name="TextBox 34"/>
          <p:cNvSpPr txBox="1"/>
          <p:nvPr/>
        </p:nvSpPr>
        <p:spPr>
          <a:xfrm>
            <a:off x="7234660" y="7779190"/>
            <a:ext cx="9661998" cy="2158007"/>
          </a:xfrm>
          <a:prstGeom prst="rect">
            <a:avLst/>
          </a:prstGeom>
        </p:spPr>
        <p:txBody>
          <a:bodyPr lIns="0" tIns="0" rIns="0" bIns="0" rtlCol="0" anchor="t">
            <a:spAutoFit/>
          </a:bodyPr>
          <a:lstStyle/>
          <a:p>
            <a:pPr marL="669076" lvl="1" indent="-334538" algn="l">
              <a:lnSpc>
                <a:spcPts val="4276"/>
              </a:lnSpc>
              <a:buFont typeface="Arial"/>
              <a:buChar char="•"/>
            </a:pPr>
            <a:r>
              <a:rPr lang="en-US" sz="3099">
                <a:solidFill>
                  <a:srgbClr val="000000"/>
                </a:solidFill>
                <a:latin typeface="Handy Casual"/>
                <a:ea typeface="Handy Casual"/>
                <a:cs typeface="Handy Casual"/>
                <a:sym typeface="Handy Casual"/>
              </a:rPr>
              <a:t>WE DEVELOPED A FLOWCHART TO DEPICT THE DIFFERENT PROCESSES REQUIRED TO BUILD AN AI MODEL AND AT EACH STAGE OF THE MODEL´S DEVELOPMENT WE IMPLEMENTED DIFFERENT TECHNICAL AND LEGAL SOLUTIONS TO MITIGATE BIAS AND ENSURE TRANSPARENCY.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7F1"/>
        </a:solidFill>
        <a:effectLst/>
      </p:bgPr>
    </p:bg>
    <p:spTree>
      <p:nvGrpSpPr>
        <p:cNvPr id="1" name=""/>
        <p:cNvGrpSpPr/>
        <p:nvPr/>
      </p:nvGrpSpPr>
      <p:grpSpPr>
        <a:xfrm>
          <a:off x="0" y="0"/>
          <a:ext cx="0" cy="0"/>
          <a:chOff x="0" y="0"/>
          <a:chExt cx="0" cy="0"/>
        </a:xfrm>
      </p:grpSpPr>
      <p:grpSp>
        <p:nvGrpSpPr>
          <p:cNvPr id="2" name="Group 2"/>
          <p:cNvGrpSpPr/>
          <p:nvPr/>
        </p:nvGrpSpPr>
        <p:grpSpPr>
          <a:xfrm>
            <a:off x="-2637456" y="-1396527"/>
            <a:ext cx="12815040" cy="13080054"/>
            <a:chOff x="0" y="0"/>
            <a:chExt cx="17086720" cy="17440072"/>
          </a:xfrm>
        </p:grpSpPr>
        <p:sp>
          <p:nvSpPr>
            <p:cNvPr id="3" name="Freeform 3"/>
            <p:cNvSpPr/>
            <p:nvPr/>
          </p:nvSpPr>
          <p:spPr>
            <a:xfrm rot="-3903177">
              <a:off x="1863757" y="2404775"/>
              <a:ext cx="13359206" cy="12630522"/>
            </a:xfrm>
            <a:custGeom>
              <a:avLst/>
              <a:gdLst/>
              <a:ahLst/>
              <a:cxnLst/>
              <a:rect l="l" t="t" r="r" b="b"/>
              <a:pathLst>
                <a:path w="13359206" h="12630522">
                  <a:moveTo>
                    <a:pt x="0" y="0"/>
                  </a:moveTo>
                  <a:lnTo>
                    <a:pt x="13359206" y="0"/>
                  </a:lnTo>
                  <a:lnTo>
                    <a:pt x="13359206" y="12630522"/>
                  </a:lnTo>
                  <a:lnTo>
                    <a:pt x="0" y="126305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_tradnl"/>
            </a:p>
          </p:txBody>
        </p:sp>
        <p:grpSp>
          <p:nvGrpSpPr>
            <p:cNvPr id="4" name="Group 4"/>
            <p:cNvGrpSpPr/>
            <p:nvPr/>
          </p:nvGrpSpPr>
          <p:grpSpPr>
            <a:xfrm rot="-813416">
              <a:off x="7576549" y="3564009"/>
              <a:ext cx="2163750" cy="10535598"/>
              <a:chOff x="0" y="0"/>
              <a:chExt cx="427407" cy="2081106"/>
            </a:xfrm>
          </p:grpSpPr>
          <p:sp>
            <p:nvSpPr>
              <p:cNvPr id="5" name="Freeform 5"/>
              <p:cNvSpPr/>
              <p:nvPr/>
            </p:nvSpPr>
            <p:spPr>
              <a:xfrm>
                <a:off x="0" y="0"/>
                <a:ext cx="427407" cy="2081106"/>
              </a:xfrm>
              <a:custGeom>
                <a:avLst/>
                <a:gdLst/>
                <a:ahLst/>
                <a:cxnLst/>
                <a:rect l="l" t="t" r="r" b="b"/>
                <a:pathLst>
                  <a:path w="427407" h="2081106">
                    <a:moveTo>
                      <a:pt x="0" y="0"/>
                    </a:moveTo>
                    <a:lnTo>
                      <a:pt x="427407" y="0"/>
                    </a:lnTo>
                    <a:lnTo>
                      <a:pt x="427407" y="2081106"/>
                    </a:lnTo>
                    <a:lnTo>
                      <a:pt x="0" y="2081106"/>
                    </a:lnTo>
                    <a:close/>
                  </a:path>
                </a:pathLst>
              </a:custGeom>
              <a:solidFill>
                <a:srgbClr val="A4B9FB"/>
              </a:solidFill>
            </p:spPr>
            <p:txBody>
              <a:bodyPr/>
              <a:lstStyle/>
              <a:p>
                <a:endParaRPr lang="es-ES_tradnl"/>
              </a:p>
            </p:txBody>
          </p:sp>
          <p:sp>
            <p:nvSpPr>
              <p:cNvPr id="6" name="TextBox 6"/>
              <p:cNvSpPr txBox="1"/>
              <p:nvPr/>
            </p:nvSpPr>
            <p:spPr>
              <a:xfrm>
                <a:off x="0" y="-57150"/>
                <a:ext cx="427407" cy="2138256"/>
              </a:xfrm>
              <a:prstGeom prst="rect">
                <a:avLst/>
              </a:prstGeom>
            </p:spPr>
            <p:txBody>
              <a:bodyPr lIns="50800" tIns="50800" rIns="50800" bIns="50800" rtlCol="0" anchor="ctr"/>
              <a:lstStyle/>
              <a:p>
                <a:pPr algn="ctr">
                  <a:lnSpc>
                    <a:spcPts val="2100"/>
                  </a:lnSpc>
                </a:pPr>
                <a:endParaRPr/>
              </a:p>
            </p:txBody>
          </p:sp>
        </p:grpSp>
      </p:grpSp>
      <p:grpSp>
        <p:nvGrpSpPr>
          <p:cNvPr id="7" name="Group 7"/>
          <p:cNvGrpSpPr/>
          <p:nvPr/>
        </p:nvGrpSpPr>
        <p:grpSpPr>
          <a:xfrm rot="71435">
            <a:off x="1140078" y="2034597"/>
            <a:ext cx="5030766" cy="3623032"/>
            <a:chOff x="0" y="0"/>
            <a:chExt cx="8817301" cy="6350000"/>
          </a:xfrm>
        </p:grpSpPr>
        <p:sp>
          <p:nvSpPr>
            <p:cNvPr id="8" name="Freeform 8"/>
            <p:cNvSpPr/>
            <p:nvPr/>
          </p:nvSpPr>
          <p:spPr>
            <a:xfrm>
              <a:off x="0" y="0"/>
              <a:ext cx="8817301" cy="6350000"/>
            </a:xfrm>
            <a:custGeom>
              <a:avLst/>
              <a:gdLst/>
              <a:ahLst/>
              <a:cxnLst/>
              <a:rect l="l" t="t" r="r" b="b"/>
              <a:pathLst>
                <a:path w="8817301" h="6350000">
                  <a:moveTo>
                    <a:pt x="0" y="0"/>
                  </a:moveTo>
                  <a:lnTo>
                    <a:pt x="8817301" y="0"/>
                  </a:lnTo>
                  <a:lnTo>
                    <a:pt x="8817301" y="6350000"/>
                  </a:lnTo>
                  <a:lnTo>
                    <a:pt x="0" y="6350000"/>
                  </a:lnTo>
                  <a:close/>
                </a:path>
              </a:pathLst>
            </a:custGeom>
            <a:blipFill>
              <a:blip r:embed="rId4"/>
              <a:stretch>
                <a:fillRect l="-15904" r="-28656"/>
              </a:stretch>
            </a:blipFill>
          </p:spPr>
          <p:txBody>
            <a:bodyPr/>
            <a:lstStyle/>
            <a:p>
              <a:endParaRPr lang="es-ES_tradnl"/>
            </a:p>
          </p:txBody>
        </p:sp>
      </p:grpSp>
      <p:sp>
        <p:nvSpPr>
          <p:cNvPr id="9" name="Freeform 9"/>
          <p:cNvSpPr/>
          <p:nvPr/>
        </p:nvSpPr>
        <p:spPr>
          <a:xfrm rot="-1568932">
            <a:off x="16073974" y="511583"/>
            <a:ext cx="1480813" cy="2123030"/>
          </a:xfrm>
          <a:custGeom>
            <a:avLst/>
            <a:gdLst/>
            <a:ahLst/>
            <a:cxnLst/>
            <a:rect l="l" t="t" r="r" b="b"/>
            <a:pathLst>
              <a:path w="1480813" h="2123030">
                <a:moveTo>
                  <a:pt x="0" y="0"/>
                </a:moveTo>
                <a:lnTo>
                  <a:pt x="1480813" y="0"/>
                </a:lnTo>
                <a:lnTo>
                  <a:pt x="1480813" y="2123030"/>
                </a:lnTo>
                <a:lnTo>
                  <a:pt x="0" y="21230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ES_tradnl"/>
          </a:p>
        </p:txBody>
      </p:sp>
      <p:sp>
        <p:nvSpPr>
          <p:cNvPr id="10" name="Freeform 10"/>
          <p:cNvSpPr/>
          <p:nvPr/>
        </p:nvSpPr>
        <p:spPr>
          <a:xfrm>
            <a:off x="7861426" y="1028700"/>
            <a:ext cx="6208009" cy="8733104"/>
          </a:xfrm>
          <a:custGeom>
            <a:avLst/>
            <a:gdLst/>
            <a:ahLst/>
            <a:cxnLst/>
            <a:rect l="l" t="t" r="r" b="b"/>
            <a:pathLst>
              <a:path w="6208009" h="8733104">
                <a:moveTo>
                  <a:pt x="0" y="0"/>
                </a:moveTo>
                <a:lnTo>
                  <a:pt x="6208009" y="0"/>
                </a:lnTo>
                <a:lnTo>
                  <a:pt x="6208009" y="8733104"/>
                </a:lnTo>
                <a:lnTo>
                  <a:pt x="0" y="8733104"/>
                </a:lnTo>
                <a:lnTo>
                  <a:pt x="0" y="0"/>
                </a:lnTo>
                <a:close/>
              </a:path>
            </a:pathLst>
          </a:custGeom>
          <a:blipFill>
            <a:blip r:embed="rId7"/>
            <a:stretch>
              <a:fillRect/>
            </a:stretch>
          </a:blipFill>
        </p:spPr>
        <p:txBody>
          <a:bodyPr/>
          <a:lstStyle/>
          <a:p>
            <a:endParaRPr lang="es-ES_tradnl"/>
          </a:p>
        </p:txBody>
      </p:sp>
      <p:sp>
        <p:nvSpPr>
          <p:cNvPr id="11" name="TextBox 11"/>
          <p:cNvSpPr txBox="1"/>
          <p:nvPr/>
        </p:nvSpPr>
        <p:spPr>
          <a:xfrm>
            <a:off x="1007404" y="7390096"/>
            <a:ext cx="5460922" cy="455296"/>
          </a:xfrm>
          <a:prstGeom prst="rect">
            <a:avLst/>
          </a:prstGeom>
        </p:spPr>
        <p:txBody>
          <a:bodyPr lIns="0" tIns="0" rIns="0" bIns="0" rtlCol="0" anchor="t">
            <a:spAutoFit/>
          </a:bodyPr>
          <a:lstStyle/>
          <a:p>
            <a:pPr algn="l">
              <a:lnSpc>
                <a:spcPts val="3779"/>
              </a:lnSpc>
            </a:pPr>
            <a:r>
              <a:rPr lang="en-US" sz="2699">
                <a:solidFill>
                  <a:srgbClr val="000000"/>
                </a:solidFill>
                <a:latin typeface="TAN Headline"/>
                <a:ea typeface="TAN Headline"/>
                <a:cs typeface="TAN Headline"/>
                <a:sym typeface="TAN Headline"/>
              </a:rPr>
              <a:t>WHAT DID WE LEARN?</a:t>
            </a:r>
          </a:p>
        </p:txBody>
      </p:sp>
      <p:sp>
        <p:nvSpPr>
          <p:cNvPr id="12" name="TextBox 12"/>
          <p:cNvSpPr txBox="1"/>
          <p:nvPr/>
        </p:nvSpPr>
        <p:spPr>
          <a:xfrm>
            <a:off x="454697" y="8111969"/>
            <a:ext cx="6401528" cy="1486895"/>
          </a:xfrm>
          <a:prstGeom prst="rect">
            <a:avLst/>
          </a:prstGeom>
        </p:spPr>
        <p:txBody>
          <a:bodyPr lIns="0" tIns="0" rIns="0" bIns="0" rtlCol="0" anchor="t">
            <a:spAutoFit/>
          </a:bodyPr>
          <a:lstStyle/>
          <a:p>
            <a:pPr algn="l">
              <a:lnSpc>
                <a:spcPts val="2998"/>
              </a:lnSpc>
            </a:pPr>
            <a:r>
              <a:rPr lang="en-US" sz="2630">
                <a:solidFill>
                  <a:srgbClr val="000000"/>
                </a:solidFill>
                <a:latin typeface="Handy Casual"/>
                <a:ea typeface="Handy Casual"/>
                <a:cs typeface="Handy Casual"/>
                <a:sym typeface="Handy Casual"/>
              </a:rPr>
              <a:t>LAW STUDENTS: learned profoundly about the process of building a system. We learned about feature extraction and all the positive aspects for data protection that go into the stage of data pre-processing. Ex. cleaning. </a:t>
            </a:r>
          </a:p>
        </p:txBody>
      </p:sp>
      <p:sp>
        <p:nvSpPr>
          <p:cNvPr id="13" name="TextBox 13"/>
          <p:cNvSpPr txBox="1"/>
          <p:nvPr/>
        </p:nvSpPr>
        <p:spPr>
          <a:xfrm>
            <a:off x="1028700" y="1322421"/>
            <a:ext cx="5578425" cy="510877"/>
          </a:xfrm>
          <a:prstGeom prst="rect">
            <a:avLst/>
          </a:prstGeom>
        </p:spPr>
        <p:txBody>
          <a:bodyPr lIns="0" tIns="0" rIns="0" bIns="0" rtlCol="0" anchor="t">
            <a:spAutoFit/>
          </a:bodyPr>
          <a:lstStyle/>
          <a:p>
            <a:pPr algn="l">
              <a:lnSpc>
                <a:spcPts val="3941"/>
              </a:lnSpc>
            </a:pPr>
            <a:r>
              <a:rPr lang="en-US" sz="3457">
                <a:solidFill>
                  <a:srgbClr val="000000"/>
                </a:solidFill>
                <a:latin typeface="Handy Casual"/>
                <a:ea typeface="Handy Casual"/>
                <a:cs typeface="Handy Casual"/>
                <a:sym typeface="Handy Casual"/>
              </a:rPr>
              <a:t>BUILDING THE LAW-TECH ARCHITECTURE!</a:t>
            </a:r>
          </a:p>
        </p:txBody>
      </p:sp>
      <p:sp>
        <p:nvSpPr>
          <p:cNvPr id="14" name="TextBox 14"/>
          <p:cNvSpPr txBox="1"/>
          <p:nvPr/>
        </p:nvSpPr>
        <p:spPr>
          <a:xfrm>
            <a:off x="1803112" y="236776"/>
            <a:ext cx="13461799" cy="532865"/>
          </a:xfrm>
          <a:prstGeom prst="rect">
            <a:avLst/>
          </a:prstGeom>
        </p:spPr>
        <p:txBody>
          <a:bodyPr lIns="0" tIns="0" rIns="0" bIns="0" rtlCol="0" anchor="t">
            <a:spAutoFit/>
          </a:bodyPr>
          <a:lstStyle/>
          <a:p>
            <a:pPr algn="l">
              <a:lnSpc>
                <a:spcPts val="4389"/>
              </a:lnSpc>
              <a:spcBef>
                <a:spcPct val="0"/>
              </a:spcBef>
            </a:pPr>
            <a:r>
              <a:rPr lang="en-US" sz="3135">
                <a:solidFill>
                  <a:srgbClr val="000000"/>
                </a:solidFill>
                <a:latin typeface="TAN Headline"/>
                <a:ea typeface="TAN Headline"/>
                <a:cs typeface="TAN Headline"/>
                <a:sym typeface="TAN Headline"/>
              </a:rPr>
              <a:t>MOST PRODUCTIVE MOMENT OF OUR COLLABORATION</a:t>
            </a:r>
          </a:p>
        </p:txBody>
      </p:sp>
      <p:sp>
        <p:nvSpPr>
          <p:cNvPr id="15" name="TextBox 15"/>
          <p:cNvSpPr txBox="1"/>
          <p:nvPr/>
        </p:nvSpPr>
        <p:spPr>
          <a:xfrm>
            <a:off x="1190897" y="5890478"/>
            <a:ext cx="5394933" cy="1199912"/>
          </a:xfrm>
          <a:prstGeom prst="rect">
            <a:avLst/>
          </a:prstGeom>
        </p:spPr>
        <p:txBody>
          <a:bodyPr lIns="0" tIns="0" rIns="0" bIns="0" rtlCol="0" anchor="t">
            <a:spAutoFit/>
          </a:bodyPr>
          <a:lstStyle/>
          <a:p>
            <a:pPr algn="l">
              <a:lnSpc>
                <a:spcPts val="3160"/>
              </a:lnSpc>
            </a:pPr>
            <a:r>
              <a:rPr lang="en-US" sz="2772">
                <a:solidFill>
                  <a:srgbClr val="000000"/>
                </a:solidFill>
                <a:latin typeface="Handy Casual"/>
                <a:ea typeface="Handy Casual"/>
                <a:cs typeface="Handy Casual"/>
                <a:sym typeface="Handy Casual"/>
              </a:rPr>
              <a:t>It was a discovery moment for all of us to realise how much we could intervene in each others work and enhance it at every stage </a:t>
            </a:r>
          </a:p>
        </p:txBody>
      </p:sp>
      <p:sp>
        <p:nvSpPr>
          <p:cNvPr id="16" name="TextBox 16"/>
          <p:cNvSpPr txBox="1"/>
          <p:nvPr/>
        </p:nvSpPr>
        <p:spPr>
          <a:xfrm>
            <a:off x="13954794" y="7369019"/>
            <a:ext cx="4333206" cy="2229845"/>
          </a:xfrm>
          <a:prstGeom prst="rect">
            <a:avLst/>
          </a:prstGeom>
        </p:spPr>
        <p:txBody>
          <a:bodyPr lIns="0" tIns="0" rIns="0" bIns="0" rtlCol="0" anchor="t">
            <a:spAutoFit/>
          </a:bodyPr>
          <a:lstStyle/>
          <a:p>
            <a:pPr algn="l">
              <a:lnSpc>
                <a:spcPts val="2998"/>
              </a:lnSpc>
            </a:pPr>
            <a:r>
              <a:rPr lang="en-US" sz="2630">
                <a:solidFill>
                  <a:srgbClr val="000000"/>
                </a:solidFill>
                <a:latin typeface="Handy Casual"/>
                <a:ea typeface="Handy Casual"/>
                <a:cs typeface="Handy Casual"/>
                <a:sym typeface="Handy Casual"/>
              </a:rPr>
              <a:t>CS STUDENTS: how important it is to think about the legality and compliance when building tech architectures. Once again, the importance of complying with the whole process to the GDPR, we learned a lot about ARTICLE 5!  </a:t>
            </a:r>
          </a:p>
        </p:txBody>
      </p:sp>
      <p:sp>
        <p:nvSpPr>
          <p:cNvPr id="17" name="TextBox 17"/>
          <p:cNvSpPr txBox="1"/>
          <p:nvPr/>
        </p:nvSpPr>
        <p:spPr>
          <a:xfrm>
            <a:off x="13390936" y="6635094"/>
            <a:ext cx="5460922" cy="455296"/>
          </a:xfrm>
          <a:prstGeom prst="rect">
            <a:avLst/>
          </a:prstGeom>
        </p:spPr>
        <p:txBody>
          <a:bodyPr lIns="0" tIns="0" rIns="0" bIns="0" rtlCol="0" anchor="t">
            <a:spAutoFit/>
          </a:bodyPr>
          <a:lstStyle/>
          <a:p>
            <a:pPr algn="l">
              <a:lnSpc>
                <a:spcPts val="3779"/>
              </a:lnSpc>
            </a:pPr>
            <a:r>
              <a:rPr lang="en-US" sz="2699">
                <a:solidFill>
                  <a:srgbClr val="000000"/>
                </a:solidFill>
                <a:latin typeface="TAN Headline"/>
                <a:ea typeface="TAN Headline"/>
                <a:cs typeface="TAN Headline"/>
                <a:sym typeface="TAN Headline"/>
              </a:rPr>
              <a:t>WHAT DID WE LEARN?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7F1"/>
        </a:solidFill>
        <a:effectLst/>
      </p:bgPr>
    </p:bg>
    <p:spTree>
      <p:nvGrpSpPr>
        <p:cNvPr id="1" name=""/>
        <p:cNvGrpSpPr/>
        <p:nvPr/>
      </p:nvGrpSpPr>
      <p:grpSpPr>
        <a:xfrm>
          <a:off x="0" y="0"/>
          <a:ext cx="0" cy="0"/>
          <a:chOff x="0" y="0"/>
          <a:chExt cx="0" cy="0"/>
        </a:xfrm>
      </p:grpSpPr>
      <p:sp>
        <p:nvSpPr>
          <p:cNvPr id="2" name="Freeform 2"/>
          <p:cNvSpPr/>
          <p:nvPr/>
        </p:nvSpPr>
        <p:spPr>
          <a:xfrm>
            <a:off x="6135067" y="-115383"/>
            <a:ext cx="10083238" cy="1393320"/>
          </a:xfrm>
          <a:custGeom>
            <a:avLst/>
            <a:gdLst/>
            <a:ahLst/>
            <a:cxnLst/>
            <a:rect l="l" t="t" r="r" b="b"/>
            <a:pathLst>
              <a:path w="10083238" h="1393320">
                <a:moveTo>
                  <a:pt x="0" y="0"/>
                </a:moveTo>
                <a:lnTo>
                  <a:pt x="10083239" y="0"/>
                </a:lnTo>
                <a:lnTo>
                  <a:pt x="10083239" y="1393320"/>
                </a:lnTo>
                <a:lnTo>
                  <a:pt x="0" y="1393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_tradnl"/>
          </a:p>
        </p:txBody>
      </p:sp>
      <p:sp>
        <p:nvSpPr>
          <p:cNvPr id="3" name="Freeform 3"/>
          <p:cNvSpPr/>
          <p:nvPr/>
        </p:nvSpPr>
        <p:spPr>
          <a:xfrm rot="-10800000">
            <a:off x="11965079" y="9011630"/>
            <a:ext cx="8506453" cy="1905171"/>
          </a:xfrm>
          <a:custGeom>
            <a:avLst/>
            <a:gdLst/>
            <a:ahLst/>
            <a:cxnLst/>
            <a:rect l="l" t="t" r="r" b="b"/>
            <a:pathLst>
              <a:path w="8506453" h="1905171">
                <a:moveTo>
                  <a:pt x="0" y="0"/>
                </a:moveTo>
                <a:lnTo>
                  <a:pt x="8506453" y="0"/>
                </a:lnTo>
                <a:lnTo>
                  <a:pt x="8506453" y="1905171"/>
                </a:lnTo>
                <a:lnTo>
                  <a:pt x="0" y="1905171"/>
                </a:lnTo>
                <a:lnTo>
                  <a:pt x="0" y="0"/>
                </a:lnTo>
                <a:close/>
              </a:path>
            </a:pathLst>
          </a:custGeom>
          <a:blipFill>
            <a:blip r:embed="rId2">
              <a:extLst>
                <a:ext uri="{96DAC541-7B7A-43D3-8B79-37D633B846F1}">
                  <asvg:svgBlip xmlns:asvg="http://schemas.microsoft.com/office/drawing/2016/SVG/main" r:embed="rId3"/>
                </a:ext>
              </a:extLst>
            </a:blip>
            <a:stretch>
              <a:fillRect l="-62081"/>
            </a:stretch>
          </a:blipFill>
        </p:spPr>
        <p:txBody>
          <a:bodyPr/>
          <a:lstStyle/>
          <a:p>
            <a:endParaRPr lang="es-ES_tradnl"/>
          </a:p>
        </p:txBody>
      </p:sp>
      <p:sp>
        <p:nvSpPr>
          <p:cNvPr id="4" name="Freeform 4"/>
          <p:cNvSpPr/>
          <p:nvPr/>
        </p:nvSpPr>
        <p:spPr>
          <a:xfrm rot="131245">
            <a:off x="473942" y="284084"/>
            <a:ext cx="5992354" cy="8469716"/>
          </a:xfrm>
          <a:custGeom>
            <a:avLst/>
            <a:gdLst/>
            <a:ahLst/>
            <a:cxnLst/>
            <a:rect l="l" t="t" r="r" b="b"/>
            <a:pathLst>
              <a:path w="5992354" h="8469716">
                <a:moveTo>
                  <a:pt x="0" y="0"/>
                </a:moveTo>
                <a:lnTo>
                  <a:pt x="5992354" y="0"/>
                </a:lnTo>
                <a:lnTo>
                  <a:pt x="5992354" y="8469715"/>
                </a:lnTo>
                <a:lnTo>
                  <a:pt x="0" y="8469715"/>
                </a:lnTo>
                <a:lnTo>
                  <a:pt x="0" y="0"/>
                </a:lnTo>
                <a:close/>
              </a:path>
            </a:pathLst>
          </a:custGeom>
          <a:blipFill>
            <a:blip r:embed="rId4">
              <a:extLst>
                <a:ext uri="{96DAC541-7B7A-43D3-8B79-37D633B846F1}">
                  <asvg:svgBlip xmlns:asvg="http://schemas.microsoft.com/office/drawing/2016/SVG/main" r:embed="rId5"/>
                </a:ext>
              </a:extLst>
            </a:blip>
            <a:stretch>
              <a:fillRect b="-55030"/>
            </a:stretch>
          </a:blipFill>
        </p:spPr>
        <p:txBody>
          <a:bodyPr/>
          <a:lstStyle/>
          <a:p>
            <a:endParaRPr lang="es-ES_tradnl"/>
          </a:p>
        </p:txBody>
      </p:sp>
      <p:grpSp>
        <p:nvGrpSpPr>
          <p:cNvPr id="5" name="Group 5"/>
          <p:cNvGrpSpPr/>
          <p:nvPr/>
        </p:nvGrpSpPr>
        <p:grpSpPr>
          <a:xfrm>
            <a:off x="6148885" y="1028700"/>
            <a:ext cx="11178862" cy="8229600"/>
            <a:chOff x="0" y="0"/>
            <a:chExt cx="15228478" cy="11210827"/>
          </a:xfrm>
        </p:grpSpPr>
        <p:sp>
          <p:nvSpPr>
            <p:cNvPr id="6" name="Freeform 6"/>
            <p:cNvSpPr/>
            <p:nvPr/>
          </p:nvSpPr>
          <p:spPr>
            <a:xfrm>
              <a:off x="31750" y="31750"/>
              <a:ext cx="15164978" cy="11147327"/>
            </a:xfrm>
            <a:custGeom>
              <a:avLst/>
              <a:gdLst/>
              <a:ahLst/>
              <a:cxnLst/>
              <a:rect l="l" t="t" r="r" b="b"/>
              <a:pathLst>
                <a:path w="15164978" h="11147327">
                  <a:moveTo>
                    <a:pt x="15072269" y="11147327"/>
                  </a:moveTo>
                  <a:lnTo>
                    <a:pt x="92710" y="11147327"/>
                  </a:lnTo>
                  <a:cubicBezTo>
                    <a:pt x="41910" y="11147327"/>
                    <a:pt x="0" y="11105417"/>
                    <a:pt x="0" y="11054617"/>
                  </a:cubicBezTo>
                  <a:lnTo>
                    <a:pt x="0" y="92710"/>
                  </a:lnTo>
                  <a:cubicBezTo>
                    <a:pt x="0" y="41910"/>
                    <a:pt x="41910" y="0"/>
                    <a:pt x="92710" y="0"/>
                  </a:cubicBezTo>
                  <a:lnTo>
                    <a:pt x="15070998" y="0"/>
                  </a:lnTo>
                  <a:cubicBezTo>
                    <a:pt x="15121798" y="0"/>
                    <a:pt x="15163709" y="41910"/>
                    <a:pt x="15163709" y="92710"/>
                  </a:cubicBezTo>
                  <a:lnTo>
                    <a:pt x="15163709" y="11053347"/>
                  </a:lnTo>
                  <a:cubicBezTo>
                    <a:pt x="15164978" y="11105417"/>
                    <a:pt x="15123069" y="11147327"/>
                    <a:pt x="15072269" y="11147327"/>
                  </a:cubicBezTo>
                  <a:close/>
                </a:path>
              </a:pathLst>
            </a:custGeom>
            <a:solidFill>
              <a:srgbClr val="FFFEF7"/>
            </a:solidFill>
          </p:spPr>
          <p:txBody>
            <a:bodyPr/>
            <a:lstStyle/>
            <a:p>
              <a:endParaRPr lang="es-ES_tradnl"/>
            </a:p>
          </p:txBody>
        </p:sp>
        <p:sp>
          <p:nvSpPr>
            <p:cNvPr id="7" name="Freeform 7"/>
            <p:cNvSpPr/>
            <p:nvPr/>
          </p:nvSpPr>
          <p:spPr>
            <a:xfrm>
              <a:off x="0" y="0"/>
              <a:ext cx="15228478" cy="11210827"/>
            </a:xfrm>
            <a:custGeom>
              <a:avLst/>
              <a:gdLst/>
              <a:ahLst/>
              <a:cxnLst/>
              <a:rect l="l" t="t" r="r" b="b"/>
              <a:pathLst>
                <a:path w="15228478" h="11210827">
                  <a:moveTo>
                    <a:pt x="15104019" y="59690"/>
                  </a:moveTo>
                  <a:cubicBezTo>
                    <a:pt x="15139578" y="59690"/>
                    <a:pt x="15168789" y="88900"/>
                    <a:pt x="15168789" y="124460"/>
                  </a:cubicBezTo>
                  <a:lnTo>
                    <a:pt x="15168789" y="11086367"/>
                  </a:lnTo>
                  <a:cubicBezTo>
                    <a:pt x="15168789" y="11121927"/>
                    <a:pt x="15139578" y="11151136"/>
                    <a:pt x="15104019" y="11151136"/>
                  </a:cubicBezTo>
                  <a:lnTo>
                    <a:pt x="124460" y="11151136"/>
                  </a:lnTo>
                  <a:cubicBezTo>
                    <a:pt x="88900" y="11151136"/>
                    <a:pt x="59690" y="11121927"/>
                    <a:pt x="59690" y="11086367"/>
                  </a:cubicBezTo>
                  <a:lnTo>
                    <a:pt x="59690" y="124460"/>
                  </a:lnTo>
                  <a:cubicBezTo>
                    <a:pt x="59690" y="88900"/>
                    <a:pt x="88900" y="59690"/>
                    <a:pt x="124460" y="59690"/>
                  </a:cubicBezTo>
                  <a:lnTo>
                    <a:pt x="15104019" y="59690"/>
                  </a:lnTo>
                  <a:moveTo>
                    <a:pt x="15104019" y="0"/>
                  </a:moveTo>
                  <a:lnTo>
                    <a:pt x="124460" y="0"/>
                  </a:lnTo>
                  <a:cubicBezTo>
                    <a:pt x="55880" y="0"/>
                    <a:pt x="0" y="55880"/>
                    <a:pt x="0" y="124460"/>
                  </a:cubicBezTo>
                  <a:lnTo>
                    <a:pt x="0" y="11086367"/>
                  </a:lnTo>
                  <a:cubicBezTo>
                    <a:pt x="0" y="11154947"/>
                    <a:pt x="55880" y="11210827"/>
                    <a:pt x="124460" y="11210827"/>
                  </a:cubicBezTo>
                  <a:lnTo>
                    <a:pt x="15104019" y="11210827"/>
                  </a:lnTo>
                  <a:cubicBezTo>
                    <a:pt x="15172598" y="11210827"/>
                    <a:pt x="15228478" y="11154947"/>
                    <a:pt x="15228478" y="11086367"/>
                  </a:cubicBezTo>
                  <a:lnTo>
                    <a:pt x="15228478" y="124460"/>
                  </a:lnTo>
                  <a:cubicBezTo>
                    <a:pt x="15228478" y="55880"/>
                    <a:pt x="15172598" y="0"/>
                    <a:pt x="15104019" y="0"/>
                  </a:cubicBezTo>
                  <a:close/>
                </a:path>
              </a:pathLst>
            </a:custGeom>
            <a:solidFill>
              <a:srgbClr val="191919"/>
            </a:solidFill>
          </p:spPr>
          <p:txBody>
            <a:bodyPr/>
            <a:lstStyle/>
            <a:p>
              <a:endParaRPr lang="es-ES_tradnl"/>
            </a:p>
          </p:txBody>
        </p:sp>
      </p:grpSp>
      <p:sp>
        <p:nvSpPr>
          <p:cNvPr id="8" name="TextBox 8"/>
          <p:cNvSpPr txBox="1"/>
          <p:nvPr/>
        </p:nvSpPr>
        <p:spPr>
          <a:xfrm>
            <a:off x="1472397" y="1868487"/>
            <a:ext cx="4185219" cy="951672"/>
          </a:xfrm>
          <a:prstGeom prst="rect">
            <a:avLst/>
          </a:prstGeom>
        </p:spPr>
        <p:txBody>
          <a:bodyPr lIns="0" tIns="0" rIns="0" bIns="0" rtlCol="0" anchor="t">
            <a:spAutoFit/>
          </a:bodyPr>
          <a:lstStyle/>
          <a:p>
            <a:pPr algn="l">
              <a:lnSpc>
                <a:spcPts val="3755"/>
              </a:lnSpc>
            </a:pPr>
            <a:r>
              <a:rPr lang="en-US" sz="3103">
                <a:solidFill>
                  <a:srgbClr val="000000"/>
                </a:solidFill>
                <a:latin typeface="TAN Headline"/>
                <a:ea typeface="TAN Headline"/>
                <a:cs typeface="TAN Headline"/>
                <a:sym typeface="TAN Headline"/>
              </a:rPr>
              <a:t>HOW DID WE COMMUNICATE?</a:t>
            </a:r>
          </a:p>
        </p:txBody>
      </p:sp>
      <p:sp>
        <p:nvSpPr>
          <p:cNvPr id="9" name="TextBox 9"/>
          <p:cNvSpPr txBox="1"/>
          <p:nvPr/>
        </p:nvSpPr>
        <p:spPr>
          <a:xfrm>
            <a:off x="1028700" y="3225558"/>
            <a:ext cx="4325920" cy="965454"/>
          </a:xfrm>
          <a:prstGeom prst="rect">
            <a:avLst/>
          </a:prstGeom>
        </p:spPr>
        <p:txBody>
          <a:bodyPr lIns="0" tIns="0" rIns="0" bIns="0" rtlCol="0" anchor="t">
            <a:spAutoFit/>
          </a:bodyPr>
          <a:lstStyle/>
          <a:p>
            <a:pPr algn="l">
              <a:lnSpc>
                <a:spcPts val="1937"/>
              </a:lnSpc>
            </a:pPr>
            <a:r>
              <a:rPr lang="en-US" sz="1699">
                <a:solidFill>
                  <a:srgbClr val="000000"/>
                </a:solidFill>
                <a:latin typeface="Handy Casual"/>
                <a:ea typeface="Handy Casual"/>
                <a:cs typeface="Handy Casual"/>
                <a:sym typeface="Handy Casual"/>
              </a:rPr>
              <a:t>We found easier to communicate through examples to erase the echnicalities of our languages - we had a lot of technical jargon thta had to be simplfied and exampoles were the best solution </a:t>
            </a:r>
          </a:p>
        </p:txBody>
      </p:sp>
      <p:sp>
        <p:nvSpPr>
          <p:cNvPr id="10" name="TextBox 10"/>
          <p:cNvSpPr txBox="1"/>
          <p:nvPr/>
        </p:nvSpPr>
        <p:spPr>
          <a:xfrm>
            <a:off x="6393285" y="1211262"/>
            <a:ext cx="4952373" cy="800100"/>
          </a:xfrm>
          <a:prstGeom prst="rect">
            <a:avLst/>
          </a:prstGeom>
        </p:spPr>
        <p:txBody>
          <a:bodyPr lIns="0" tIns="0" rIns="0" bIns="0" rtlCol="0" anchor="t">
            <a:spAutoFit/>
          </a:bodyPr>
          <a:lstStyle/>
          <a:p>
            <a:pPr algn="l">
              <a:lnSpc>
                <a:spcPts val="2100"/>
              </a:lnSpc>
              <a:spcBef>
                <a:spcPct val="0"/>
              </a:spcBef>
            </a:pPr>
            <a:r>
              <a:rPr lang="en-US" sz="1500" spc="54">
                <a:solidFill>
                  <a:srgbClr val="000000"/>
                </a:solidFill>
                <a:latin typeface="TAN Headline"/>
                <a:ea typeface="TAN Headline"/>
                <a:cs typeface="TAN Headline"/>
                <a:sym typeface="TAN Headline"/>
              </a:rPr>
              <a:t>LEGALITY CONFLICT WITH ALGORITHM THINKING AND THE INFLUENCE IN RESPONSIBILITY AND TRACEABILITY</a:t>
            </a:r>
          </a:p>
        </p:txBody>
      </p:sp>
      <p:sp>
        <p:nvSpPr>
          <p:cNvPr id="11" name="Freeform 11"/>
          <p:cNvSpPr/>
          <p:nvPr/>
        </p:nvSpPr>
        <p:spPr>
          <a:xfrm rot="9074365" flipH="1" flipV="1">
            <a:off x="1625648" y="9215895"/>
            <a:ext cx="3573273" cy="896567"/>
          </a:xfrm>
          <a:custGeom>
            <a:avLst/>
            <a:gdLst/>
            <a:ahLst/>
            <a:cxnLst/>
            <a:rect l="l" t="t" r="r" b="b"/>
            <a:pathLst>
              <a:path w="3573273" h="896567">
                <a:moveTo>
                  <a:pt x="3573273" y="896567"/>
                </a:moveTo>
                <a:lnTo>
                  <a:pt x="0" y="896567"/>
                </a:lnTo>
                <a:lnTo>
                  <a:pt x="0" y="0"/>
                </a:lnTo>
                <a:lnTo>
                  <a:pt x="3573273" y="0"/>
                </a:lnTo>
                <a:lnTo>
                  <a:pt x="3573273" y="896567"/>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ES_tradnl"/>
          </a:p>
        </p:txBody>
      </p:sp>
      <p:sp>
        <p:nvSpPr>
          <p:cNvPr id="12" name="TextBox 12"/>
          <p:cNvSpPr txBox="1"/>
          <p:nvPr/>
        </p:nvSpPr>
        <p:spPr>
          <a:xfrm>
            <a:off x="1068051" y="2907344"/>
            <a:ext cx="4589564" cy="266700"/>
          </a:xfrm>
          <a:prstGeom prst="rect">
            <a:avLst/>
          </a:prstGeom>
        </p:spPr>
        <p:txBody>
          <a:bodyPr lIns="0" tIns="0" rIns="0" bIns="0" rtlCol="0" anchor="t">
            <a:spAutoFit/>
          </a:bodyPr>
          <a:lstStyle/>
          <a:p>
            <a:pPr algn="l">
              <a:lnSpc>
                <a:spcPts val="2100"/>
              </a:lnSpc>
              <a:spcBef>
                <a:spcPct val="0"/>
              </a:spcBef>
            </a:pPr>
            <a:r>
              <a:rPr lang="en-US" sz="1500" spc="54">
                <a:solidFill>
                  <a:srgbClr val="000000"/>
                </a:solidFill>
                <a:latin typeface="TAN Headline"/>
                <a:ea typeface="TAN Headline"/>
                <a:cs typeface="TAN Headline"/>
                <a:sym typeface="TAN Headline"/>
              </a:rPr>
              <a:t>EXAMPLES, EXAMPLES, EXAMPLES!</a:t>
            </a:r>
          </a:p>
        </p:txBody>
      </p:sp>
      <p:sp>
        <p:nvSpPr>
          <p:cNvPr id="13" name="TextBox 13"/>
          <p:cNvSpPr txBox="1"/>
          <p:nvPr/>
        </p:nvSpPr>
        <p:spPr>
          <a:xfrm>
            <a:off x="6852250" y="337200"/>
            <a:ext cx="8783142" cy="478627"/>
          </a:xfrm>
          <a:prstGeom prst="rect">
            <a:avLst/>
          </a:prstGeom>
        </p:spPr>
        <p:txBody>
          <a:bodyPr lIns="0" tIns="0" rIns="0" bIns="0" rtlCol="0" anchor="t">
            <a:spAutoFit/>
          </a:bodyPr>
          <a:lstStyle/>
          <a:p>
            <a:pPr algn="l">
              <a:lnSpc>
                <a:spcPts val="3755"/>
              </a:lnSpc>
            </a:pPr>
            <a:r>
              <a:rPr lang="en-US" sz="3103">
                <a:solidFill>
                  <a:srgbClr val="000000"/>
                </a:solidFill>
                <a:latin typeface="TAN Headline"/>
                <a:ea typeface="TAN Headline"/>
                <a:cs typeface="TAN Headline"/>
                <a:sym typeface="TAN Headline"/>
              </a:rPr>
              <a:t>REFLECTIONS ON THE PROJECTS</a:t>
            </a:r>
          </a:p>
        </p:txBody>
      </p:sp>
      <p:sp>
        <p:nvSpPr>
          <p:cNvPr id="14" name="TextBox 14"/>
          <p:cNvSpPr txBox="1"/>
          <p:nvPr/>
        </p:nvSpPr>
        <p:spPr>
          <a:xfrm>
            <a:off x="1028700" y="4242526"/>
            <a:ext cx="4325920" cy="2071116"/>
          </a:xfrm>
          <a:prstGeom prst="rect">
            <a:avLst/>
          </a:prstGeom>
        </p:spPr>
        <p:txBody>
          <a:bodyPr lIns="0" tIns="0" rIns="0" bIns="0" rtlCol="0" anchor="t">
            <a:spAutoFit/>
          </a:bodyPr>
          <a:lstStyle/>
          <a:p>
            <a:pPr algn="l">
              <a:lnSpc>
                <a:spcPts val="2051"/>
              </a:lnSpc>
            </a:pPr>
            <a:r>
              <a:rPr lang="en-US" sz="1799">
                <a:solidFill>
                  <a:srgbClr val="000000"/>
                </a:solidFill>
                <a:latin typeface="Handy Casual"/>
                <a:ea typeface="Handy Casual"/>
                <a:cs typeface="Handy Casual"/>
                <a:sym typeface="Handy Casual"/>
              </a:rPr>
              <a:t>TO explain how a risk assemsent works and when the deployer might be obligated to compky, we explained with an example on how a RISK assessment looks like and how it should be answered and accodirng to it, the obligations in each setage of the process - to explain principles of the GDPR. we also uses examples. For transparency “We may use your personal data to personalise your experience” to explain the DS why their data is being used </a:t>
            </a:r>
          </a:p>
        </p:txBody>
      </p:sp>
      <p:sp>
        <p:nvSpPr>
          <p:cNvPr id="15" name="TextBox 15"/>
          <p:cNvSpPr txBox="1"/>
          <p:nvPr/>
        </p:nvSpPr>
        <p:spPr>
          <a:xfrm>
            <a:off x="1068051" y="6570563"/>
            <a:ext cx="4325920" cy="1840992"/>
          </a:xfrm>
          <a:prstGeom prst="rect">
            <a:avLst/>
          </a:prstGeom>
        </p:spPr>
        <p:txBody>
          <a:bodyPr lIns="0" tIns="0" rIns="0" bIns="0" rtlCol="0" anchor="t">
            <a:spAutoFit/>
          </a:bodyPr>
          <a:lstStyle/>
          <a:p>
            <a:pPr algn="l">
              <a:lnSpc>
                <a:spcPts val="1823"/>
              </a:lnSpc>
            </a:pPr>
            <a:r>
              <a:rPr lang="en-US" sz="1599">
                <a:solidFill>
                  <a:srgbClr val="000000"/>
                </a:solidFill>
                <a:latin typeface="Handy Casual"/>
                <a:ea typeface="Handy Casual"/>
                <a:cs typeface="Handy Casual"/>
                <a:sym typeface="Handy Casual"/>
              </a:rPr>
              <a:t>AS Data Science students, we explained how the Shapley model works in simple terms. Shapley values calculate how much each factor contributes by looking at every possible combination and measuring the final impact. The example used was the pizza party:  3 friends decide to make pizza. One brought the cheese, one friend brought tomato sauce, and one brought toppings. At the end, who deserves how much credit for making pizza so good?</a:t>
            </a:r>
          </a:p>
        </p:txBody>
      </p:sp>
      <p:sp>
        <p:nvSpPr>
          <p:cNvPr id="16" name="TextBox 16"/>
          <p:cNvSpPr txBox="1"/>
          <p:nvPr/>
        </p:nvSpPr>
        <p:spPr>
          <a:xfrm>
            <a:off x="12081328" y="1344612"/>
            <a:ext cx="4136977" cy="266700"/>
          </a:xfrm>
          <a:prstGeom prst="rect">
            <a:avLst/>
          </a:prstGeom>
        </p:spPr>
        <p:txBody>
          <a:bodyPr lIns="0" tIns="0" rIns="0" bIns="0" rtlCol="0" anchor="t">
            <a:spAutoFit/>
          </a:bodyPr>
          <a:lstStyle/>
          <a:p>
            <a:pPr algn="l">
              <a:lnSpc>
                <a:spcPts val="2100"/>
              </a:lnSpc>
              <a:spcBef>
                <a:spcPct val="0"/>
              </a:spcBef>
            </a:pPr>
            <a:r>
              <a:rPr lang="en-US" sz="1500" spc="54">
                <a:solidFill>
                  <a:srgbClr val="000000"/>
                </a:solidFill>
                <a:latin typeface="TAN Headline"/>
                <a:ea typeface="TAN Headline"/>
                <a:cs typeface="TAN Headline"/>
                <a:sym typeface="TAN Headline"/>
              </a:rPr>
              <a:t>TECHNICAL ASSUMPTIONS </a:t>
            </a:r>
          </a:p>
        </p:txBody>
      </p:sp>
      <p:sp>
        <p:nvSpPr>
          <p:cNvPr id="17" name="TextBox 17"/>
          <p:cNvSpPr txBox="1"/>
          <p:nvPr/>
        </p:nvSpPr>
        <p:spPr>
          <a:xfrm>
            <a:off x="6706512" y="2349085"/>
            <a:ext cx="4325920" cy="2328291"/>
          </a:xfrm>
          <a:prstGeom prst="rect">
            <a:avLst/>
          </a:prstGeom>
        </p:spPr>
        <p:txBody>
          <a:bodyPr lIns="0" tIns="0" rIns="0" bIns="0" rtlCol="0" anchor="t">
            <a:spAutoFit/>
          </a:bodyPr>
          <a:lstStyle/>
          <a:p>
            <a:pPr algn="l">
              <a:lnSpc>
                <a:spcPts val="2051"/>
              </a:lnSpc>
            </a:pPr>
            <a:r>
              <a:rPr lang="en-US" sz="1799">
                <a:solidFill>
                  <a:srgbClr val="000000"/>
                </a:solidFill>
                <a:latin typeface="Handy Casual"/>
                <a:ea typeface="Handy Casual"/>
                <a:cs typeface="Handy Casual"/>
                <a:sym typeface="Handy Casual"/>
              </a:rPr>
              <a:t>We thpught some obstacles might t¡be hoiw to comply with privacy and data proetction, when it is impssible to use some pricnciples like data minimisation because it will affectd the system operations </a:t>
            </a:r>
          </a:p>
          <a:p>
            <a:pPr algn="l">
              <a:lnSpc>
                <a:spcPts val="2051"/>
              </a:lnSpc>
            </a:pPr>
            <a:endParaRPr lang="en-US" sz="1799">
              <a:solidFill>
                <a:srgbClr val="000000"/>
              </a:solidFill>
              <a:latin typeface="Handy Casual"/>
              <a:ea typeface="Handy Casual"/>
              <a:cs typeface="Handy Casual"/>
              <a:sym typeface="Handy Casual"/>
            </a:endParaRPr>
          </a:p>
          <a:p>
            <a:pPr algn="l">
              <a:lnSpc>
                <a:spcPts val="2051"/>
              </a:lnSpc>
            </a:pPr>
            <a:r>
              <a:rPr lang="en-US" sz="1799">
                <a:solidFill>
                  <a:srgbClr val="000000"/>
                </a:solidFill>
                <a:latin typeface="Handy Casual"/>
                <a:ea typeface="Handy Casual"/>
                <a:cs typeface="Handy Casual"/>
                <a:sym typeface="Handy Casual"/>
              </a:rPr>
              <a:t>For responsability and traceability we found thta solkutions such as contracts, consent agreements and consent finormation have a great IMPACT in owning reposnsability over the data subjects data and being transparent about the operations </a:t>
            </a:r>
          </a:p>
        </p:txBody>
      </p:sp>
      <p:sp>
        <p:nvSpPr>
          <p:cNvPr id="18" name="TextBox 18"/>
          <p:cNvSpPr txBox="1"/>
          <p:nvPr/>
        </p:nvSpPr>
        <p:spPr>
          <a:xfrm>
            <a:off x="12081328" y="1834735"/>
            <a:ext cx="4325920" cy="3356991"/>
          </a:xfrm>
          <a:prstGeom prst="rect">
            <a:avLst/>
          </a:prstGeom>
        </p:spPr>
        <p:txBody>
          <a:bodyPr lIns="0" tIns="0" rIns="0" bIns="0" rtlCol="0" anchor="t">
            <a:spAutoFit/>
          </a:bodyPr>
          <a:lstStyle/>
          <a:p>
            <a:pPr algn="l">
              <a:lnSpc>
                <a:spcPts val="2051"/>
              </a:lnSpc>
            </a:pPr>
            <a:r>
              <a:rPr lang="en-US" sz="1799">
                <a:solidFill>
                  <a:srgbClr val="000000"/>
                </a:solidFill>
                <a:latin typeface="Handy Casual"/>
                <a:ea typeface="Handy Casual"/>
                <a:cs typeface="Handy Casual"/>
                <a:sym typeface="Handy Casual"/>
              </a:rPr>
              <a:t>We revised technical assumptions by identifying when model features (like age or gender) risked violating equality laws, prompting us to adjust model design for fairness and legal compliance. Eg under Equality Act we could not include gender because it can lead to performing worse for a particular gender, </a:t>
            </a:r>
          </a:p>
          <a:p>
            <a:pPr algn="l">
              <a:lnSpc>
                <a:spcPts val="2051"/>
              </a:lnSpc>
            </a:pPr>
            <a:endParaRPr lang="en-US" sz="1799">
              <a:solidFill>
                <a:srgbClr val="000000"/>
              </a:solidFill>
              <a:latin typeface="Handy Casual"/>
              <a:ea typeface="Handy Casual"/>
              <a:cs typeface="Handy Casual"/>
              <a:sym typeface="Handy Casual"/>
            </a:endParaRPr>
          </a:p>
          <a:p>
            <a:pPr algn="l">
              <a:lnSpc>
                <a:spcPts val="2051"/>
              </a:lnSpc>
            </a:pPr>
            <a:r>
              <a:rPr lang="en-US" sz="1799">
                <a:solidFill>
                  <a:srgbClr val="000000"/>
                </a:solidFill>
                <a:latin typeface="Handy Casual"/>
                <a:ea typeface="Handy Casual"/>
                <a:cs typeface="Handy Casual"/>
                <a:sym typeface="Handy Casual"/>
              </a:rPr>
              <a:t>Accountability was a challenge because AI systems are often a black box. Legal frameworks often stuggle to map responsiblity because harm is caused by an automated process.We solved it by designing AI systmes with explainability tools like Shap and audit trails so decisions can be traced, reviewed and challenged. </a:t>
            </a:r>
          </a:p>
        </p:txBody>
      </p:sp>
      <p:sp>
        <p:nvSpPr>
          <p:cNvPr id="19" name="TextBox 19"/>
          <p:cNvSpPr txBox="1"/>
          <p:nvPr/>
        </p:nvSpPr>
        <p:spPr>
          <a:xfrm>
            <a:off x="7071339" y="6332692"/>
            <a:ext cx="8804707" cy="2243223"/>
          </a:xfrm>
          <a:prstGeom prst="rect">
            <a:avLst/>
          </a:prstGeom>
        </p:spPr>
        <p:txBody>
          <a:bodyPr lIns="0" tIns="0" rIns="0" bIns="0" rtlCol="0" anchor="t">
            <a:spAutoFit/>
          </a:bodyPr>
          <a:lstStyle/>
          <a:p>
            <a:pPr algn="just">
              <a:lnSpc>
                <a:spcPts val="3575"/>
              </a:lnSpc>
            </a:pPr>
            <a:r>
              <a:rPr lang="en-US" sz="3136">
                <a:solidFill>
                  <a:srgbClr val="000000"/>
                </a:solidFill>
                <a:latin typeface="Handy Casual"/>
                <a:ea typeface="Handy Casual"/>
                <a:cs typeface="Handy Casual"/>
                <a:sym typeface="Handy Casual"/>
              </a:rPr>
              <a:t>CREATION OF AN ETHICS AND LEGAL COMPLIANCE MODULE FOR COMPUTER SCIENCE STUDENTS, PARTICULARLY IN OUR MSC PROGRAMME, SO WE ARE TAUGHT ABOUT HOW BIAS CAN ENTER THE MODELS WE BUILD AND EXPLAIN THE OUTPUT OF OUR MODELS AND HOW IT COMES TO THE DECISIONS IT MAKES.</a:t>
            </a:r>
          </a:p>
        </p:txBody>
      </p:sp>
      <p:sp>
        <p:nvSpPr>
          <p:cNvPr id="20" name="TextBox 20"/>
          <p:cNvSpPr txBox="1"/>
          <p:nvPr/>
        </p:nvSpPr>
        <p:spPr>
          <a:xfrm>
            <a:off x="8869472" y="5620351"/>
            <a:ext cx="5209995" cy="478627"/>
          </a:xfrm>
          <a:prstGeom prst="rect">
            <a:avLst/>
          </a:prstGeom>
        </p:spPr>
        <p:txBody>
          <a:bodyPr lIns="0" tIns="0" rIns="0" bIns="0" rtlCol="0" anchor="t">
            <a:spAutoFit/>
          </a:bodyPr>
          <a:lstStyle/>
          <a:p>
            <a:pPr algn="l">
              <a:lnSpc>
                <a:spcPts val="3755"/>
              </a:lnSpc>
            </a:pPr>
            <a:r>
              <a:rPr lang="en-US" sz="3103">
                <a:solidFill>
                  <a:srgbClr val="000000"/>
                </a:solidFill>
                <a:latin typeface="TAN Headline"/>
                <a:ea typeface="TAN Headline"/>
                <a:cs typeface="TAN Headline"/>
                <a:sym typeface="TAN Headline"/>
              </a:rPr>
              <a:t>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thank you card with sunflowers and sunflowers&#10;&#10;AI-generated content may be incorrect.">
            <a:extLst>
              <a:ext uri="{FF2B5EF4-FFF2-40B4-BE49-F238E27FC236}">
                <a16:creationId xmlns:a16="http://schemas.microsoft.com/office/drawing/2014/main" id="{1EE32754-DBB9-4C57-0246-81E613DD28F9}"/>
              </a:ext>
            </a:extLst>
          </p:cNvPr>
          <p:cNvPicPr>
            <a:picLocks noChangeAspect="1"/>
          </p:cNvPicPr>
          <p:nvPr/>
        </p:nvPicPr>
        <p:blipFill>
          <a:blip r:embed="rId2"/>
          <a:stretch>
            <a:fillRect/>
          </a:stretch>
        </p:blipFill>
        <p:spPr>
          <a:xfrm>
            <a:off x="4167363" y="965200"/>
            <a:ext cx="9953271" cy="8356601"/>
          </a:xfrm>
          <a:prstGeom prst="rect">
            <a:avLst/>
          </a:prstGeom>
        </p:spPr>
      </p:pic>
    </p:spTree>
    <p:extLst>
      <p:ext uri="{BB962C8B-B14F-4D97-AF65-F5344CB8AC3E}">
        <p14:creationId xmlns:p14="http://schemas.microsoft.com/office/powerpoint/2010/main" val="2888486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in a suit with his arms out">
            <a:extLst>
              <a:ext uri="{FF2B5EF4-FFF2-40B4-BE49-F238E27FC236}">
                <a16:creationId xmlns:a16="http://schemas.microsoft.com/office/drawing/2014/main" id="{773E76FA-5070-D32B-B070-772940F49038}"/>
              </a:ext>
            </a:extLst>
          </p:cNvPr>
          <p:cNvPicPr>
            <a:picLocks noChangeAspect="1"/>
          </p:cNvPicPr>
          <p:nvPr/>
        </p:nvPicPr>
        <p:blipFill>
          <a:blip r:embed="rId2"/>
          <a:srcRect b="6902"/>
          <a:stretch/>
        </p:blipFill>
        <p:spPr>
          <a:xfrm>
            <a:off x="2286000" y="2"/>
            <a:ext cx="13716000" cy="10287000"/>
          </a:xfrm>
          <a:prstGeom prst="rect">
            <a:avLst/>
          </a:prstGeom>
        </p:spPr>
      </p:pic>
    </p:spTree>
    <p:extLst>
      <p:ext uri="{BB962C8B-B14F-4D97-AF65-F5344CB8AC3E}">
        <p14:creationId xmlns:p14="http://schemas.microsoft.com/office/powerpoint/2010/main" val="3785552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809</Words>
  <Application>Microsoft Office PowerPoint</Application>
  <PresentationFormat>Custom</PresentationFormat>
  <Paragraphs>43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Madrid</vt:lpstr>
      <vt:lpstr>Calibri</vt:lpstr>
      <vt:lpstr>TAN Headline</vt:lpstr>
      <vt:lpstr>Handy Casual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Reflection</dc:title>
  <cp:lastModifiedBy>Oluwateniola Oyinkansola Obiwole</cp:lastModifiedBy>
  <cp:revision>2</cp:revision>
  <dcterms:created xsi:type="dcterms:W3CDTF">2006-08-16T00:00:00Z</dcterms:created>
  <dcterms:modified xsi:type="dcterms:W3CDTF">2025-06-02T14:50:31Z</dcterms:modified>
  <dc:identifier>DAGpNJG2_DQ</dc:identifier>
</cp:coreProperties>
</file>