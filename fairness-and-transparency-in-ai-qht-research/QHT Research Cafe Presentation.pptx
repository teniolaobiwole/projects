
<file path=[Content_Types].xml><?xml version="1.0" encoding="utf-8"?>
<Types xmlns="http://schemas.openxmlformats.org/package/2006/content-types">
  <Default Extension="gif" ContentType="image/gif"/>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9"/>
  </p:notesMasterIdLst>
  <p:sldIdLst>
    <p:sldId id="282" r:id="rId5"/>
    <p:sldId id="280" r:id="rId6"/>
    <p:sldId id="265" r:id="rId7"/>
    <p:sldId id="281" r:id="rId8"/>
    <p:sldId id="258" r:id="rId9"/>
    <p:sldId id="266" r:id="rId10"/>
    <p:sldId id="261" r:id="rId11"/>
    <p:sldId id="267" r:id="rId12"/>
    <p:sldId id="260" r:id="rId13"/>
    <p:sldId id="262" r:id="rId14"/>
    <p:sldId id="268" r:id="rId15"/>
    <p:sldId id="269" r:id="rId16"/>
    <p:sldId id="271" r:id="rId17"/>
    <p:sldId id="264" r:id="rId18"/>
    <p:sldId id="270" r:id="rId19"/>
    <p:sldId id="259" r:id="rId20"/>
    <p:sldId id="272" r:id="rId21"/>
    <p:sldId id="278" r:id="rId22"/>
    <p:sldId id="273" r:id="rId23"/>
    <p:sldId id="276" r:id="rId24"/>
    <p:sldId id="274" r:id="rId25"/>
    <p:sldId id="284" r:id="rId26"/>
    <p:sldId id="279" r:id="rId27"/>
    <p:sldId id="283"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81415" autoAdjust="0"/>
  </p:normalViewPr>
  <p:slideViewPr>
    <p:cSldViewPr snapToGrid="0" snapToObjects="1">
      <p:cViewPr varScale="1">
        <p:scale>
          <a:sx n="61" d="100"/>
          <a:sy n="61" d="100"/>
        </p:scale>
        <p:origin x="144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46B608-0E28-452D-BCCE-B1FE5A0E4F7A}" type="datetimeFigureOut">
              <a:rPr lang="en-GB" smtClean="0"/>
              <a:t>02/06/2025</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E350298-B774-44B4-9266-65B1840B0B98}" type="slidenum">
              <a:rPr lang="en-GB" smtClean="0"/>
              <a:t>‹#›</a:t>
            </a:fld>
            <a:endParaRPr lang="en-GB"/>
          </a:p>
        </p:txBody>
      </p:sp>
    </p:spTree>
    <p:extLst>
      <p:ext uri="{BB962C8B-B14F-4D97-AF65-F5344CB8AC3E}">
        <p14:creationId xmlns:p14="http://schemas.microsoft.com/office/powerpoint/2010/main" val="4267846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presentation we’ll be focusing on the application of AI in Cancer Imaging.</a:t>
            </a:r>
          </a:p>
        </p:txBody>
      </p:sp>
      <p:sp>
        <p:nvSpPr>
          <p:cNvPr id="4" name="Slide Number Placeholder 3"/>
          <p:cNvSpPr>
            <a:spLocks noGrp="1"/>
          </p:cNvSpPr>
          <p:nvPr>
            <p:ph type="sldNum" sz="quarter" idx="5"/>
          </p:nvPr>
        </p:nvSpPr>
        <p:spPr/>
        <p:txBody>
          <a:bodyPr/>
          <a:lstStyle/>
          <a:p>
            <a:fld id="{1E350298-B774-44B4-9266-65B1840B0B98}" type="slidenum">
              <a:rPr lang="en-GB" smtClean="0"/>
              <a:t>1</a:t>
            </a:fld>
            <a:endParaRPr lang="en-GB"/>
          </a:p>
        </p:txBody>
      </p:sp>
    </p:spTree>
    <p:extLst>
      <p:ext uri="{BB962C8B-B14F-4D97-AF65-F5344CB8AC3E}">
        <p14:creationId xmlns:p14="http://schemas.microsoft.com/office/powerpoint/2010/main" val="3312810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Bias in AI, particularly in healthcare AI, refers to the systematic and unfair discrimination against certain individuals or groups, leading to disparities in healthcare outcomes, treatment, and access. </a:t>
            </a:r>
          </a:p>
          <a:p>
            <a:r>
              <a:rPr lang="en-GB" dirty="0"/>
              <a:t>In the context of healthcare, where decisions can have life-or-death consequences, biased AI is a critical concern that can exacerbate existing health inequities.</a:t>
            </a:r>
          </a:p>
        </p:txBody>
      </p:sp>
      <p:sp>
        <p:nvSpPr>
          <p:cNvPr id="4" name="Slide Number Placeholder 3"/>
          <p:cNvSpPr>
            <a:spLocks noGrp="1"/>
          </p:cNvSpPr>
          <p:nvPr>
            <p:ph type="sldNum" sz="quarter" idx="5"/>
          </p:nvPr>
        </p:nvSpPr>
        <p:spPr/>
        <p:txBody>
          <a:bodyPr/>
          <a:lstStyle/>
          <a:p>
            <a:fld id="{1E350298-B774-44B4-9266-65B1840B0B98}" type="slidenum">
              <a:rPr lang="en-GB" smtClean="0"/>
              <a:t>2</a:t>
            </a:fld>
            <a:endParaRPr lang="en-GB"/>
          </a:p>
        </p:txBody>
      </p:sp>
    </p:spTree>
    <p:extLst>
      <p:ext uri="{BB962C8B-B14F-4D97-AF65-F5344CB8AC3E}">
        <p14:creationId xmlns:p14="http://schemas.microsoft.com/office/powerpoint/2010/main" val="10368787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impact of bias in healthcare AI can be severe and contribute to health inequities:</a:t>
            </a:r>
          </a:p>
          <a:p>
            <a:pPr>
              <a:buFont typeface="Arial" panose="020B0604020202020204" pitchFamily="34" charset="0"/>
              <a:buChar char="•"/>
            </a:pPr>
            <a:r>
              <a:rPr lang="en-GB" b="1" dirty="0"/>
              <a:t>Misdiagnosis and Delayed Treatment:</a:t>
            </a:r>
            <a:r>
              <a:rPr lang="en-GB" dirty="0"/>
              <a:t> Biased AI can lead to incorrect diagnoses or delays in identifying critical conditions for certain patient groups.</a:t>
            </a:r>
          </a:p>
          <a:p>
            <a:pPr>
              <a:buFont typeface="Arial" panose="020B0604020202020204" pitchFamily="34" charset="0"/>
              <a:buChar char="•"/>
            </a:pPr>
            <a:r>
              <a:rPr lang="en-GB" b="1" dirty="0"/>
              <a:t>Unequal Access to Care:</a:t>
            </a:r>
            <a:r>
              <a:rPr lang="en-GB" dirty="0"/>
              <a:t> AI used for risk stratification or resource allocation can unfairly limit access to necessary interventions or specialized care for marginalized populations.</a:t>
            </a:r>
          </a:p>
          <a:p>
            <a:pPr>
              <a:buFont typeface="Arial" panose="020B0604020202020204" pitchFamily="34" charset="0"/>
              <a:buChar char="•"/>
            </a:pPr>
            <a:r>
              <a:rPr lang="en-GB" b="1" dirty="0"/>
              <a:t>Suboptimal Treatment Plans:</a:t>
            </a:r>
            <a:r>
              <a:rPr lang="en-GB" dirty="0"/>
              <a:t> Biased AI recommendations can result in treatment plans that are less effective or even harmful for certain individuals.</a:t>
            </a:r>
          </a:p>
          <a:p>
            <a:pPr>
              <a:buFont typeface="Arial" panose="020B0604020202020204" pitchFamily="34" charset="0"/>
              <a:buChar char="•"/>
            </a:pPr>
            <a:r>
              <a:rPr lang="en-GB" b="1" dirty="0"/>
              <a:t>Erosion of Trust:</a:t>
            </a:r>
            <a:r>
              <a:rPr lang="en-GB" dirty="0"/>
              <a:t> When AI systems exhibit bias, it erodes trust between patients and healthcare providers and can deepen existing mistrust in healthcare systems among marginalized communities.</a:t>
            </a:r>
          </a:p>
          <a:p>
            <a:pPr>
              <a:buFont typeface="Arial" panose="020B0604020202020204" pitchFamily="34" charset="0"/>
              <a:buChar char="•"/>
            </a:pPr>
            <a:r>
              <a:rPr lang="en-GB" b="1" dirty="0"/>
              <a:t>Exacerbation of Health Disparities:</a:t>
            </a:r>
            <a:r>
              <a:rPr lang="en-GB" dirty="0"/>
              <a:t> By perpetuating and amplifying existing biases, healthcare AI can worsen health inequities and contribute to poorer health outcomes for vulnerable populations.</a:t>
            </a:r>
          </a:p>
          <a:p>
            <a:r>
              <a:rPr lang="en-GB" dirty="0"/>
              <a:t>Addressing bias in healthcare AI is not just a technical challenge but an ethical and societal imperative. It requires a concerted effort involving diverse stakeholders to ensure that AI is developed and deployed in a way that promotes fairness, equity, and trustworthy healthcare for all.</a:t>
            </a:r>
          </a:p>
        </p:txBody>
      </p:sp>
      <p:sp>
        <p:nvSpPr>
          <p:cNvPr id="4" name="Slide Number Placeholder 3"/>
          <p:cNvSpPr>
            <a:spLocks noGrp="1"/>
          </p:cNvSpPr>
          <p:nvPr>
            <p:ph type="sldNum" sz="quarter" idx="5"/>
          </p:nvPr>
        </p:nvSpPr>
        <p:spPr/>
        <p:txBody>
          <a:bodyPr/>
          <a:lstStyle/>
          <a:p>
            <a:fld id="{1E350298-B774-44B4-9266-65B1840B0B98}" type="slidenum">
              <a:rPr lang="en-GB" smtClean="0"/>
              <a:t>3</a:t>
            </a:fld>
            <a:endParaRPr lang="en-GB"/>
          </a:p>
        </p:txBody>
      </p:sp>
    </p:spTree>
    <p:extLst>
      <p:ext uri="{BB962C8B-B14F-4D97-AF65-F5344CB8AC3E}">
        <p14:creationId xmlns:p14="http://schemas.microsoft.com/office/powerpoint/2010/main" val="40984553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latin typeface="Times New Roman" panose="02020603050405020304" pitchFamily="18" charset="0"/>
                <a:cs typeface="Times New Roman" panose="02020603050405020304" pitchFamily="18" charset="0"/>
              </a:rPr>
              <a:t>Data Bias:  If the data used to train an AI model reflects historical prejudices or is unrepresentative of certain groups, the model will learn and perpetuate those biases.</a:t>
            </a:r>
          </a:p>
          <a:p>
            <a:r>
              <a:rPr lang="en-GB" dirty="0">
                <a:latin typeface="Times New Roman" panose="02020603050405020304" pitchFamily="18" charset="0"/>
                <a:cs typeface="Times New Roman" panose="02020603050405020304" pitchFamily="18" charset="0"/>
              </a:rPr>
              <a:t>Algorithmic Bias: Bias can be introduced through the design and parameters of the algorithm itself, even if the data is seemingly unbiased. This can happen through the features the algorithm prioritizes or the way it processes information.</a:t>
            </a:r>
          </a:p>
          <a:p>
            <a:r>
              <a:rPr lang="en-GB" dirty="0">
                <a:latin typeface="Times New Roman" panose="02020603050405020304" pitchFamily="18" charset="0"/>
                <a:cs typeface="Times New Roman" panose="02020603050405020304" pitchFamily="18" charset="0"/>
              </a:rPr>
              <a:t>Human Decision Bias: The biases of the people who design, develop, and deploy AI systems can unconsciously influence the data collection, </a:t>
            </a:r>
            <a:r>
              <a:rPr lang="en-GB" dirty="0" err="1">
                <a:latin typeface="Times New Roman" panose="02020603050405020304" pitchFamily="18" charset="0"/>
                <a:cs typeface="Times New Roman" panose="02020603050405020304" pitchFamily="18" charset="0"/>
              </a:rPr>
              <a:t>labeling</a:t>
            </a:r>
            <a:r>
              <a:rPr lang="en-GB" dirty="0">
                <a:latin typeface="Times New Roman" panose="02020603050405020304" pitchFamily="18" charset="0"/>
                <a:cs typeface="Times New Roman" panose="02020603050405020304" pitchFamily="18" charset="0"/>
              </a:rPr>
              <a:t>, and model development processes.</a:t>
            </a:r>
          </a:p>
          <a:p>
            <a:endParaRPr lang="en-GB" dirty="0"/>
          </a:p>
        </p:txBody>
      </p:sp>
      <p:sp>
        <p:nvSpPr>
          <p:cNvPr id="4" name="Slide Number Placeholder 3"/>
          <p:cNvSpPr>
            <a:spLocks noGrp="1"/>
          </p:cNvSpPr>
          <p:nvPr>
            <p:ph type="sldNum" sz="quarter" idx="5"/>
          </p:nvPr>
        </p:nvSpPr>
        <p:spPr/>
        <p:txBody>
          <a:bodyPr/>
          <a:lstStyle/>
          <a:p>
            <a:fld id="{1E350298-B774-44B4-9266-65B1840B0B98}" type="slidenum">
              <a:rPr lang="en-GB" smtClean="0"/>
              <a:t>4</a:t>
            </a:fld>
            <a:endParaRPr lang="en-GB"/>
          </a:p>
        </p:txBody>
      </p:sp>
    </p:spTree>
    <p:extLst>
      <p:ext uri="{BB962C8B-B14F-4D97-AF65-F5344CB8AC3E}">
        <p14:creationId xmlns:p14="http://schemas.microsoft.com/office/powerpoint/2010/main" val="2901866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GB" sz="1200" dirty="0">
                <a:latin typeface="Times New Roman"/>
              </a:rPr>
              <a:t>Transparency in healthcare AI is the principle of ensuring that the design, development, and operation of AI systems used in healthcare are open, understandable, and accessible to relevant stakeholders. </a:t>
            </a:r>
          </a:p>
          <a:p>
            <a:pPr marL="0" indent="0">
              <a:buNone/>
            </a:pPr>
            <a:endParaRPr lang="en-GB" sz="1200" dirty="0">
              <a:latin typeface="Times New Roman"/>
            </a:endParaRPr>
          </a:p>
          <a:p>
            <a:pPr marL="0" indent="0">
              <a:buNone/>
            </a:pPr>
            <a:r>
              <a:rPr lang="en-GB" sz="1200" dirty="0">
                <a:latin typeface="Times New Roman"/>
              </a:rPr>
              <a:t>These stakeholders include patients, healthcare professionals, regulators, and the public.</a:t>
            </a:r>
          </a:p>
          <a:p>
            <a:pPr marL="0" indent="0">
              <a:buNone/>
            </a:pPr>
            <a:endParaRPr lang="en-GB" sz="1200" dirty="0">
              <a:latin typeface="Times New Roman"/>
            </a:endParaRPr>
          </a:p>
          <a:p>
            <a:pPr marL="0" indent="0">
              <a:buNone/>
            </a:pPr>
            <a:r>
              <a:rPr lang="en-GB" sz="1200" dirty="0">
                <a:latin typeface="Times New Roman"/>
              </a:rPr>
              <a:t>It goes beyond simply knowing that AI is being used; it involves understanding how and why AI is being applied and the implications of its use in medical settings.</a:t>
            </a:r>
          </a:p>
          <a:p>
            <a:endParaRPr lang="en-GB" dirty="0"/>
          </a:p>
        </p:txBody>
      </p:sp>
      <p:sp>
        <p:nvSpPr>
          <p:cNvPr id="4" name="Slide Number Placeholder 3"/>
          <p:cNvSpPr>
            <a:spLocks noGrp="1"/>
          </p:cNvSpPr>
          <p:nvPr>
            <p:ph type="sldNum" sz="quarter" idx="5"/>
          </p:nvPr>
        </p:nvSpPr>
        <p:spPr/>
        <p:txBody>
          <a:bodyPr/>
          <a:lstStyle/>
          <a:p>
            <a:fld id="{1E350298-B774-44B4-9266-65B1840B0B98}" type="slidenum">
              <a:rPr lang="en-GB" smtClean="0"/>
              <a:t>7</a:t>
            </a:fld>
            <a:endParaRPr lang="en-GB"/>
          </a:p>
        </p:txBody>
      </p:sp>
    </p:spTree>
    <p:extLst>
      <p:ext uri="{BB962C8B-B14F-4D97-AF65-F5344CB8AC3E}">
        <p14:creationId xmlns:p14="http://schemas.microsoft.com/office/powerpoint/2010/main" val="4890194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GB" b="1" dirty="0"/>
              <a:t>Complexity of AI Models:</a:t>
            </a:r>
            <a:r>
              <a:rPr lang="en-GB" dirty="0"/>
              <a:t> Many advanced AI models are inherently complex and difficult to fully explain in simple terms.   </a:t>
            </a:r>
          </a:p>
          <a:p>
            <a:pPr>
              <a:buFont typeface="Arial" panose="020B0604020202020204" pitchFamily="34" charset="0"/>
              <a:buChar char="•"/>
            </a:pPr>
            <a:r>
              <a:rPr lang="en-GB" b="1" dirty="0"/>
              <a:t>Balancing Transparency with Intellectual Property:</a:t>
            </a:r>
            <a:r>
              <a:rPr lang="en-GB" dirty="0"/>
              <a:t> Developers of AI healthcare solutions have legitimate concerns about protecting their proprietary algorithms.   </a:t>
            </a:r>
          </a:p>
          <a:p>
            <a:pPr>
              <a:buFont typeface="Arial" panose="020B0604020202020204" pitchFamily="34" charset="0"/>
              <a:buChar char="•"/>
            </a:pPr>
            <a:r>
              <a:rPr lang="en-GB" b="1" dirty="0"/>
              <a:t>Data Privacy and Security:</a:t>
            </a:r>
            <a:r>
              <a:rPr lang="en-GB" dirty="0"/>
              <a:t> Sharing detailed information about the training data to enhance transparency must be balanced with protecting sensitive patient information and complying with privacy regulations like GDPR and HIPAA.   </a:t>
            </a:r>
          </a:p>
          <a:p>
            <a:pPr>
              <a:buFont typeface="Arial" panose="020B0604020202020204" pitchFamily="34" charset="0"/>
              <a:buChar char="•"/>
            </a:pPr>
            <a:r>
              <a:rPr lang="en-GB" b="1" dirty="0"/>
              <a:t>Diverse Stakeholder Needs:</a:t>
            </a:r>
            <a:r>
              <a:rPr lang="en-GB" dirty="0"/>
              <a:t> Different stakeholders (patients, clinicians, regulators) require different levels and types of transparency, making it challenging to satisfy everyone.</a:t>
            </a:r>
          </a:p>
          <a:p>
            <a:pPr>
              <a:buFont typeface="Arial" panose="020B0604020202020204" pitchFamily="34" charset="0"/>
              <a:buChar char="•"/>
            </a:pPr>
            <a:r>
              <a:rPr lang="en-GB" b="1" dirty="0"/>
              <a:t>Dynamic Nature of AI:</a:t>
            </a:r>
            <a:r>
              <a:rPr lang="en-GB" dirty="0"/>
              <a:t> Some AI models are continuously learning and evolving, making it difficult to provide a static, fully transparent explanation of their current state.   </a:t>
            </a:r>
          </a:p>
          <a:p>
            <a:pPr>
              <a:buFont typeface="Arial" panose="020B0604020202020204" pitchFamily="34" charset="0"/>
              <a:buChar char="•"/>
            </a:pPr>
            <a:r>
              <a:rPr lang="en-GB" b="1" dirty="0"/>
              <a:t>Lack of Standardization:</a:t>
            </a:r>
            <a:r>
              <a:rPr lang="en-GB" dirty="0"/>
              <a:t> There is a need for standardized frameworks and guidelines for achieving and communicating AI transparency in healthcare.   </a:t>
            </a:r>
          </a:p>
          <a:p>
            <a:endParaRPr lang="en-GB" dirty="0"/>
          </a:p>
        </p:txBody>
      </p:sp>
      <p:sp>
        <p:nvSpPr>
          <p:cNvPr id="4" name="Slide Number Placeholder 3"/>
          <p:cNvSpPr>
            <a:spLocks noGrp="1"/>
          </p:cNvSpPr>
          <p:nvPr>
            <p:ph type="sldNum" sz="quarter" idx="5"/>
          </p:nvPr>
        </p:nvSpPr>
        <p:spPr/>
        <p:txBody>
          <a:bodyPr/>
          <a:lstStyle/>
          <a:p>
            <a:fld id="{1E350298-B774-44B4-9266-65B1840B0B98}" type="slidenum">
              <a:rPr lang="en-GB" smtClean="0"/>
              <a:t>8</a:t>
            </a:fld>
            <a:endParaRPr lang="en-GB"/>
          </a:p>
        </p:txBody>
      </p:sp>
    </p:spTree>
    <p:extLst>
      <p:ext uri="{BB962C8B-B14F-4D97-AF65-F5344CB8AC3E}">
        <p14:creationId xmlns:p14="http://schemas.microsoft.com/office/powerpoint/2010/main" val="28547289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1E350298-B774-44B4-9266-65B1840B0B98}" type="slidenum">
              <a:rPr lang="en-GB" smtClean="0"/>
              <a:t>9</a:t>
            </a:fld>
            <a:endParaRPr lang="en-GB"/>
          </a:p>
        </p:txBody>
      </p:sp>
    </p:spTree>
    <p:extLst>
      <p:ext uri="{BB962C8B-B14F-4D97-AF65-F5344CB8AC3E}">
        <p14:creationId xmlns:p14="http://schemas.microsoft.com/office/powerpoint/2010/main" val="6011018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pPr>
            <a:endParaRPr lang="en-GB" sz="1600" b="1" dirty="0">
              <a:latin typeface="Times New Roman" panose="02020603050405020304" pitchFamily="18" charset="0"/>
              <a:cs typeface="Times New Roman" panose="02020603050405020304" pitchFamily="18" charset="0"/>
            </a:endParaRPr>
          </a:p>
          <a:p>
            <a:pPr marL="0" indent="0">
              <a:lnSpc>
                <a:spcPct val="90000"/>
              </a:lnSpc>
              <a:buNone/>
            </a:pPr>
            <a:r>
              <a:rPr lang="en-GB" sz="1600" b="1" dirty="0">
                <a:latin typeface="Times New Roman" panose="02020603050405020304" pitchFamily="18" charset="0"/>
                <a:cs typeface="Times New Roman" panose="02020603050405020304" pitchFamily="18" charset="0"/>
              </a:rPr>
              <a:t>AI is revolutionising cancer care through several key applications in imaging:</a:t>
            </a:r>
            <a:endParaRPr lang="en-GB" sz="1600" dirty="0">
              <a:latin typeface="Times New Roman" panose="02020603050405020304" pitchFamily="18" charset="0"/>
              <a:cs typeface="Times New Roman" panose="02020603050405020304" pitchFamily="18" charset="0"/>
            </a:endParaRPr>
          </a:p>
          <a:p>
            <a:pPr>
              <a:lnSpc>
                <a:spcPct val="90000"/>
              </a:lnSpc>
            </a:pPr>
            <a:r>
              <a:rPr lang="en-GB" sz="1600" b="1" dirty="0">
                <a:latin typeface="Times New Roman" panose="02020603050405020304" pitchFamily="18" charset="0"/>
                <a:cs typeface="Times New Roman" panose="02020603050405020304" pitchFamily="18" charset="0"/>
              </a:rPr>
              <a:t>Detection &amp; Diagnosis</a:t>
            </a:r>
            <a:endParaRPr lang="en-GB" sz="1600" dirty="0">
              <a:latin typeface="Times New Roman" panose="02020603050405020304" pitchFamily="18" charset="0"/>
              <a:cs typeface="Times New Roman" panose="02020603050405020304" pitchFamily="18" charset="0"/>
            </a:endParaRPr>
          </a:p>
          <a:p>
            <a:pPr lvl="1">
              <a:lnSpc>
                <a:spcPct val="90000"/>
              </a:lnSpc>
            </a:pPr>
            <a:r>
              <a:rPr lang="en-GB" sz="1600" dirty="0">
                <a:latin typeface="Times New Roman" panose="02020603050405020304" pitchFamily="18" charset="0"/>
                <a:cs typeface="Times New Roman" panose="02020603050405020304" pitchFamily="18" charset="0"/>
              </a:rPr>
              <a:t>Identifying cancerous lesions or tumours in medical scans (e.g. mammograms, CT, MRI).</a:t>
            </a:r>
          </a:p>
          <a:p>
            <a:pPr lvl="1">
              <a:lnSpc>
                <a:spcPct val="90000"/>
              </a:lnSpc>
            </a:pPr>
            <a:r>
              <a:rPr lang="en-GB" sz="1600" dirty="0">
                <a:latin typeface="Times New Roman" panose="02020603050405020304" pitchFamily="18" charset="0"/>
                <a:cs typeface="Times New Roman" panose="02020603050405020304" pitchFamily="18" charset="0"/>
              </a:rPr>
              <a:t>Supporting radiologists in distinguishing between benign and malignant cases.</a:t>
            </a:r>
          </a:p>
          <a:p>
            <a:pPr>
              <a:lnSpc>
                <a:spcPct val="90000"/>
              </a:lnSpc>
            </a:pPr>
            <a:r>
              <a:rPr lang="en-GB" sz="1600" b="1" dirty="0">
                <a:latin typeface="Times New Roman" panose="02020603050405020304" pitchFamily="18" charset="0"/>
                <a:cs typeface="Times New Roman" panose="02020603050405020304" pitchFamily="18" charset="0"/>
              </a:rPr>
              <a:t>Segmentation</a:t>
            </a:r>
            <a:endParaRPr lang="en-GB" sz="1600" dirty="0">
              <a:latin typeface="Times New Roman" panose="02020603050405020304" pitchFamily="18" charset="0"/>
              <a:cs typeface="Times New Roman" panose="02020603050405020304" pitchFamily="18" charset="0"/>
            </a:endParaRPr>
          </a:p>
          <a:p>
            <a:pPr lvl="1">
              <a:lnSpc>
                <a:spcPct val="90000"/>
              </a:lnSpc>
            </a:pPr>
            <a:r>
              <a:rPr lang="en-GB" sz="1600" dirty="0">
                <a:latin typeface="Times New Roman" panose="02020603050405020304" pitchFamily="18" charset="0"/>
                <a:cs typeface="Times New Roman" panose="02020603050405020304" pitchFamily="18" charset="0"/>
              </a:rPr>
              <a:t>Precisely outlining tumours and other regions of interest in scans.</a:t>
            </a:r>
          </a:p>
          <a:p>
            <a:pPr lvl="1">
              <a:lnSpc>
                <a:spcPct val="90000"/>
              </a:lnSpc>
            </a:pPr>
            <a:r>
              <a:rPr lang="en-GB" sz="1600" dirty="0">
                <a:latin typeface="Times New Roman" panose="02020603050405020304" pitchFamily="18" charset="0"/>
                <a:cs typeface="Times New Roman" panose="02020603050405020304" pitchFamily="18" charset="0"/>
              </a:rPr>
              <a:t>Helps in planning treatment and tracking tumour progression.</a:t>
            </a:r>
          </a:p>
          <a:p>
            <a:pPr>
              <a:lnSpc>
                <a:spcPct val="90000"/>
              </a:lnSpc>
            </a:pPr>
            <a:r>
              <a:rPr lang="en-GB" sz="1600" b="1" dirty="0">
                <a:latin typeface="Times New Roman" panose="02020603050405020304" pitchFamily="18" charset="0"/>
                <a:cs typeface="Times New Roman" panose="02020603050405020304" pitchFamily="18" charset="0"/>
              </a:rPr>
              <a:t>Classification</a:t>
            </a:r>
            <a:endParaRPr lang="en-GB" sz="1600" dirty="0">
              <a:latin typeface="Times New Roman" panose="02020603050405020304" pitchFamily="18" charset="0"/>
              <a:cs typeface="Times New Roman" panose="02020603050405020304" pitchFamily="18" charset="0"/>
            </a:endParaRPr>
          </a:p>
          <a:p>
            <a:pPr lvl="1">
              <a:lnSpc>
                <a:spcPct val="90000"/>
              </a:lnSpc>
            </a:pPr>
            <a:r>
              <a:rPr lang="en-GB" sz="1600" dirty="0">
                <a:latin typeface="Times New Roman" panose="02020603050405020304" pitchFamily="18" charset="0"/>
                <a:cs typeface="Times New Roman" panose="02020603050405020304" pitchFamily="18" charset="0"/>
              </a:rPr>
              <a:t>Categorising tumour types, stages, or aggressiveness based on imaging features.</a:t>
            </a:r>
          </a:p>
          <a:p>
            <a:pPr lvl="1">
              <a:lnSpc>
                <a:spcPct val="90000"/>
              </a:lnSpc>
            </a:pPr>
            <a:r>
              <a:rPr lang="en-GB" sz="1600" dirty="0">
                <a:latin typeface="Times New Roman" panose="02020603050405020304" pitchFamily="18" charset="0"/>
                <a:cs typeface="Times New Roman" panose="02020603050405020304" pitchFamily="18" charset="0"/>
              </a:rPr>
              <a:t>Assists in tailoring personalised treatment plans.</a:t>
            </a:r>
          </a:p>
          <a:p>
            <a:pPr>
              <a:lnSpc>
                <a:spcPct val="90000"/>
              </a:lnSpc>
            </a:pPr>
            <a:r>
              <a:rPr lang="en-GB" sz="1600" b="1" dirty="0">
                <a:latin typeface="Times New Roman" panose="02020603050405020304" pitchFamily="18" charset="0"/>
                <a:cs typeface="Times New Roman" panose="02020603050405020304" pitchFamily="18" charset="0"/>
              </a:rPr>
              <a:t>Prognosis Prediction</a:t>
            </a:r>
            <a:endParaRPr lang="en-GB" sz="1600" dirty="0">
              <a:latin typeface="Times New Roman" panose="02020603050405020304" pitchFamily="18" charset="0"/>
              <a:cs typeface="Times New Roman" panose="02020603050405020304" pitchFamily="18" charset="0"/>
            </a:endParaRPr>
          </a:p>
          <a:p>
            <a:pPr lvl="1">
              <a:lnSpc>
                <a:spcPct val="90000"/>
              </a:lnSpc>
            </a:pPr>
            <a:r>
              <a:rPr lang="en-GB" sz="1600" dirty="0">
                <a:latin typeface="Times New Roman" panose="02020603050405020304" pitchFamily="18" charset="0"/>
                <a:cs typeface="Times New Roman" panose="02020603050405020304" pitchFamily="18" charset="0"/>
              </a:rPr>
              <a:t>Analysing imaging patterns to estimate disease progression and survival outcomes.</a:t>
            </a:r>
          </a:p>
          <a:p>
            <a:pPr>
              <a:lnSpc>
                <a:spcPct val="90000"/>
              </a:lnSpc>
            </a:pPr>
            <a:r>
              <a:rPr lang="en-GB" sz="1600" b="1" dirty="0">
                <a:latin typeface="Times New Roman" panose="02020603050405020304" pitchFamily="18" charset="0"/>
                <a:cs typeface="Times New Roman" panose="02020603050405020304" pitchFamily="18" charset="0"/>
              </a:rPr>
              <a:t>Treatment Response Monitoring</a:t>
            </a:r>
            <a:endParaRPr lang="en-GB" sz="1600" dirty="0">
              <a:latin typeface="Times New Roman" panose="02020603050405020304" pitchFamily="18" charset="0"/>
              <a:cs typeface="Times New Roman" panose="02020603050405020304" pitchFamily="18" charset="0"/>
            </a:endParaRPr>
          </a:p>
          <a:p>
            <a:pPr lvl="1">
              <a:lnSpc>
                <a:spcPct val="90000"/>
              </a:lnSpc>
            </a:pPr>
            <a:r>
              <a:rPr lang="en-GB" sz="1600" dirty="0">
                <a:latin typeface="Times New Roman" panose="02020603050405020304" pitchFamily="18" charset="0"/>
                <a:cs typeface="Times New Roman" panose="02020603050405020304" pitchFamily="18" charset="0"/>
              </a:rPr>
              <a:t>Comparing imaging data over time to assess how well a patient is responding to therapy.</a:t>
            </a:r>
          </a:p>
          <a:p>
            <a:pPr>
              <a:lnSpc>
                <a:spcPct val="90000"/>
              </a:lnSpc>
            </a:pPr>
            <a:endParaRPr lang="en-GB" sz="1600" dirty="0">
              <a:latin typeface="Times New Roman" panose="02020603050405020304" pitchFamily="18" charset="0"/>
              <a:cs typeface="Times New Roman" panose="02020603050405020304" pitchFamily="18" charset="0"/>
            </a:endParaRPr>
          </a:p>
          <a:p>
            <a:endParaRPr lang="en-GB" dirty="0"/>
          </a:p>
        </p:txBody>
      </p:sp>
      <p:sp>
        <p:nvSpPr>
          <p:cNvPr id="4" name="Slide Number Placeholder 3"/>
          <p:cNvSpPr>
            <a:spLocks noGrp="1"/>
          </p:cNvSpPr>
          <p:nvPr>
            <p:ph type="sldNum" sz="quarter" idx="5"/>
          </p:nvPr>
        </p:nvSpPr>
        <p:spPr/>
        <p:txBody>
          <a:bodyPr/>
          <a:lstStyle/>
          <a:p>
            <a:fld id="{1E350298-B774-44B4-9266-65B1840B0B98}" type="slidenum">
              <a:rPr lang="en-GB" smtClean="0"/>
              <a:t>10</a:t>
            </a:fld>
            <a:endParaRPr lang="en-GB"/>
          </a:p>
        </p:txBody>
      </p:sp>
    </p:spTree>
    <p:extLst>
      <p:ext uri="{BB962C8B-B14F-4D97-AF65-F5344CB8AC3E}">
        <p14:creationId xmlns:p14="http://schemas.microsoft.com/office/powerpoint/2010/main" val="7997527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GB" b="0" i="0" dirty="0">
                <a:solidFill>
                  <a:srgbClr val="1B1C1D"/>
                </a:solidFill>
                <a:effectLst/>
                <a:latin typeface="Google Sans Text"/>
              </a:rPr>
              <a:t>In CNNs, the "black box" refers to the difficulty in understanding the specific reasons or features that led the network to make a particular prediction or decision, even though you can see the input data and the final output.</a:t>
            </a:r>
          </a:p>
          <a:p>
            <a:pPr rtl="0"/>
            <a:r>
              <a:rPr lang="en-GB" b="0" i="0" dirty="0">
                <a:solidFill>
                  <a:srgbClr val="1B1C1D"/>
                </a:solidFill>
                <a:effectLst/>
                <a:latin typeface="Google Sans Text"/>
              </a:rPr>
              <a:t>Think of it like this: you give the CNN an image of a potential </a:t>
            </a:r>
            <a:r>
              <a:rPr lang="en-GB" b="0" i="0" dirty="0" err="1">
                <a:solidFill>
                  <a:srgbClr val="1B1C1D"/>
                </a:solidFill>
                <a:effectLst/>
                <a:latin typeface="Google Sans Text"/>
              </a:rPr>
              <a:t>tumor</a:t>
            </a:r>
            <a:r>
              <a:rPr lang="en-GB" b="0" i="0" dirty="0">
                <a:solidFill>
                  <a:srgbClr val="1B1C1D"/>
                </a:solidFill>
                <a:effectLst/>
                <a:latin typeface="Google Sans Text"/>
              </a:rPr>
              <a:t>, and it tells you "Malignant." You know the input (the image) and the output (the classification), but it's hard to pinpoint exactly </a:t>
            </a:r>
            <a:r>
              <a:rPr lang="en-GB" b="0" i="1" dirty="0">
                <a:solidFill>
                  <a:srgbClr val="1B1C1D"/>
                </a:solidFill>
                <a:effectLst/>
                <a:latin typeface="Google Sans Text"/>
              </a:rPr>
              <a:t>which</a:t>
            </a:r>
            <a:r>
              <a:rPr lang="en-GB" b="0" i="0" dirty="0">
                <a:solidFill>
                  <a:srgbClr val="1B1C1D"/>
                </a:solidFill>
                <a:effectLst/>
                <a:latin typeface="Google Sans Text"/>
              </a:rPr>
              <a:t> complex combination of learned features across its many layers (edges, textures, shapes, etc.) contributed most to that "Malignant" decision.</a:t>
            </a:r>
          </a:p>
          <a:p>
            <a:pPr rtl="0"/>
            <a:r>
              <a:rPr lang="en-GB" b="0" i="0" dirty="0">
                <a:solidFill>
                  <a:srgbClr val="1B1C1D"/>
                </a:solidFill>
                <a:effectLst/>
                <a:latin typeface="Google Sans Text"/>
              </a:rPr>
              <a:t>The opacity comes from the intricate, non-linear interactions between the vast number of neurons and parameters within the hidden layers of the deep network. While powerful for learning complex patterns, this depth makes it challenging for humans to follow the step-by-step reasoning process.</a:t>
            </a:r>
          </a:p>
          <a:p>
            <a:endParaRPr lang="en-GB" dirty="0"/>
          </a:p>
        </p:txBody>
      </p:sp>
      <p:sp>
        <p:nvSpPr>
          <p:cNvPr id="4" name="Slide Number Placeholder 3"/>
          <p:cNvSpPr>
            <a:spLocks noGrp="1"/>
          </p:cNvSpPr>
          <p:nvPr>
            <p:ph type="sldNum" sz="quarter" idx="5"/>
          </p:nvPr>
        </p:nvSpPr>
        <p:spPr/>
        <p:txBody>
          <a:bodyPr/>
          <a:lstStyle/>
          <a:p>
            <a:fld id="{1E350298-B774-44B4-9266-65B1840B0B98}" type="slidenum">
              <a:rPr lang="en-GB" smtClean="0"/>
              <a:t>12</a:t>
            </a:fld>
            <a:endParaRPr lang="en-GB"/>
          </a:p>
        </p:txBody>
      </p:sp>
    </p:spTree>
    <p:extLst>
      <p:ext uri="{BB962C8B-B14F-4D97-AF65-F5344CB8AC3E}">
        <p14:creationId xmlns:p14="http://schemas.microsoft.com/office/powerpoint/2010/main" val="18620259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Fairness Metrics (to measure and define fairness):</a:t>
            </a:r>
            <a:endParaRPr lang="en-GB" dirty="0"/>
          </a:p>
          <a:p>
            <a:pPr>
              <a:buFont typeface="Arial" panose="020B0604020202020204" pitchFamily="34" charset="0"/>
              <a:buChar char="•"/>
            </a:pPr>
            <a:r>
              <a:rPr lang="en-GB" b="1" dirty="0"/>
              <a:t>Demographic Parity (Statistical Parity):</a:t>
            </a:r>
            <a:r>
              <a:rPr lang="en-GB" dirty="0"/>
              <a:t> Measures if a positive outcome is equally likely across different groups.</a:t>
            </a:r>
          </a:p>
          <a:p>
            <a:pPr>
              <a:buFont typeface="Arial" panose="020B0604020202020204" pitchFamily="34" charset="0"/>
              <a:buChar char="•"/>
            </a:pPr>
            <a:r>
              <a:rPr lang="en-GB" b="1" dirty="0"/>
              <a:t>Equal Opportunity:</a:t>
            </a:r>
            <a:r>
              <a:rPr lang="en-GB" dirty="0"/>
              <a:t> Measures if the true positive rate (correctly identifying positive cases) is the same across different groups.</a:t>
            </a:r>
          </a:p>
          <a:p>
            <a:pPr>
              <a:buFont typeface="Arial" panose="020B0604020202020204" pitchFamily="34" charset="0"/>
              <a:buChar char="•"/>
            </a:pPr>
            <a:r>
              <a:rPr lang="en-GB" b="1" dirty="0"/>
              <a:t>Equalized Odds:</a:t>
            </a:r>
            <a:r>
              <a:rPr lang="en-GB" dirty="0"/>
              <a:t> Requires both the true positive rate and the false positive rate to be equal across groups.</a:t>
            </a:r>
          </a:p>
          <a:p>
            <a:pPr>
              <a:buFont typeface="Arial" panose="020B0604020202020204" pitchFamily="34" charset="0"/>
              <a:buChar char="•"/>
            </a:pPr>
            <a:r>
              <a:rPr lang="en-GB" b="1" dirty="0"/>
              <a:t>Predictive Parity:</a:t>
            </a:r>
            <a:r>
              <a:rPr lang="en-GB" dirty="0"/>
              <a:t> Measures if the positive predictive value (proportion of positive predictions that are truly positive) is the same across groups.</a:t>
            </a:r>
          </a:p>
          <a:p>
            <a:r>
              <a:rPr lang="en-GB" b="1" dirty="0"/>
              <a:t>Algorithmic Techniques (to build fairness into the model):</a:t>
            </a:r>
            <a:endParaRPr lang="en-GB" dirty="0"/>
          </a:p>
          <a:p>
            <a:pPr>
              <a:buFont typeface="Arial" panose="020B0604020202020204" pitchFamily="34" charset="0"/>
              <a:buChar char="•"/>
            </a:pPr>
            <a:r>
              <a:rPr lang="en-GB" b="1" dirty="0"/>
              <a:t>Pre-processing Techniques:</a:t>
            </a:r>
            <a:r>
              <a:rPr lang="en-GB" dirty="0"/>
              <a:t> Adjusting the training data </a:t>
            </a:r>
            <a:r>
              <a:rPr lang="en-GB" i="1" dirty="0"/>
              <a:t>before</a:t>
            </a:r>
            <a:r>
              <a:rPr lang="en-GB" dirty="0"/>
              <a:t> feeding it into the model to reduce bias (e.g., re-sampling, re-weighing data points).</a:t>
            </a:r>
          </a:p>
          <a:p>
            <a:pPr>
              <a:buFont typeface="Arial" panose="020B0604020202020204" pitchFamily="34" charset="0"/>
              <a:buChar char="•"/>
            </a:pPr>
            <a:r>
              <a:rPr lang="en-GB" b="1" dirty="0"/>
              <a:t>In-processing Techniques:</a:t>
            </a:r>
            <a:r>
              <a:rPr lang="en-GB" dirty="0"/>
              <a:t> Modifying the training algorithm or the model's objective function to incorporate fairness constraints during training.</a:t>
            </a:r>
          </a:p>
          <a:p>
            <a:pPr>
              <a:buFont typeface="Arial" panose="020B0604020202020204" pitchFamily="34" charset="0"/>
              <a:buChar char="•"/>
            </a:pPr>
            <a:r>
              <a:rPr lang="en-GB" b="1" dirty="0"/>
              <a:t>Post-processing Techniques:</a:t>
            </a:r>
            <a:r>
              <a:rPr lang="en-GB" dirty="0"/>
              <a:t> Adjusting the model's predictions </a:t>
            </a:r>
            <a:r>
              <a:rPr lang="en-GB" i="1" dirty="0"/>
              <a:t>after</a:t>
            </a:r>
            <a:r>
              <a:rPr lang="en-GB" dirty="0"/>
              <a:t> the model has been trained to improve fairness according to a chosen metric.</a:t>
            </a:r>
          </a:p>
          <a:p>
            <a:pPr>
              <a:buFont typeface="Arial" panose="020B0604020202020204" pitchFamily="34" charset="0"/>
              <a:buChar char="•"/>
            </a:pPr>
            <a:r>
              <a:rPr lang="en-GB" b="1" dirty="0"/>
              <a:t>Adversarial Training:</a:t>
            </a:r>
            <a:r>
              <a:rPr lang="en-GB" dirty="0"/>
              <a:t> Training two competing networks, one to perform the main task and another to try and detect sensitive attributes, encouraging the main network to be independent of those attributes.</a:t>
            </a:r>
          </a:p>
          <a:p>
            <a:pPr>
              <a:buFont typeface="Arial" panose="020B0604020202020204" pitchFamily="34" charset="0"/>
              <a:buChar char="•"/>
            </a:pPr>
            <a:r>
              <a:rPr lang="en-GB" b="1" dirty="0"/>
              <a:t>Developing Models Robust to Variability:</a:t>
            </a:r>
            <a:r>
              <a:rPr lang="en-GB" dirty="0"/>
              <a:t> Designing AI model architectures and training processes that are inherently more resilient to noise and variations in input data. This can involve using specific types of layers, regularization techniques, or loss functions during training.</a:t>
            </a:r>
          </a:p>
          <a:p>
            <a:pPr>
              <a:buFont typeface="Arial" panose="020B0604020202020204" pitchFamily="34" charset="0"/>
              <a:buChar char="•"/>
            </a:pPr>
            <a:r>
              <a:rPr lang="en-GB" b="1" dirty="0"/>
              <a:t>Data Harmonization:</a:t>
            </a:r>
            <a:r>
              <a:rPr lang="en-GB" dirty="0"/>
              <a:t> This involves applying pre-processing techniques to the images to make their characteristics more consistent across different sources. This can include normalizing image intensities, standardizing spatial resolution, or using algorithms to correct for scanner-specific artifacts or variations in contrast. The goal is to reduce the non-biological variability in the data before training the AI.</a:t>
            </a:r>
          </a:p>
          <a:p>
            <a:endParaRPr lang="en-GB" dirty="0"/>
          </a:p>
        </p:txBody>
      </p:sp>
      <p:sp>
        <p:nvSpPr>
          <p:cNvPr id="4" name="Slide Number Placeholder 3"/>
          <p:cNvSpPr>
            <a:spLocks noGrp="1"/>
          </p:cNvSpPr>
          <p:nvPr>
            <p:ph type="sldNum" sz="quarter" idx="5"/>
          </p:nvPr>
        </p:nvSpPr>
        <p:spPr/>
        <p:txBody>
          <a:bodyPr/>
          <a:lstStyle/>
          <a:p>
            <a:fld id="{1E350298-B774-44B4-9266-65B1840B0B98}" type="slidenum">
              <a:rPr lang="en-GB" smtClean="0"/>
              <a:t>14</a:t>
            </a:fld>
            <a:endParaRPr lang="en-GB"/>
          </a:p>
        </p:txBody>
      </p:sp>
    </p:spTree>
    <p:extLst>
      <p:ext uri="{BB962C8B-B14F-4D97-AF65-F5344CB8AC3E}">
        <p14:creationId xmlns:p14="http://schemas.microsoft.com/office/powerpoint/2010/main" val="6363838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SHAP shows you which specific pixels or areas (features) in that image were most important in pushing the AI towards its final decision, like classifying a </a:t>
            </a:r>
            <a:r>
              <a:rPr lang="en-GB" dirty="0" err="1"/>
              <a:t>tumor</a:t>
            </a:r>
            <a:r>
              <a:rPr lang="en-GB" dirty="0"/>
              <a:t> as malignant. It highlights their impact compared to a baseline prediction</a:t>
            </a:r>
            <a:br>
              <a:rPr lang="en-GB" dirty="0"/>
            </a:br>
            <a:br>
              <a:rPr lang="en-GB" dirty="0"/>
            </a:br>
            <a:r>
              <a:rPr lang="en-GB" dirty="0"/>
              <a:t>Imagine you have a very complex machine you can't see inside (the black box AI). You give it something (like a medical image), and it gives you an answer (like "malignant").</a:t>
            </a:r>
          </a:p>
          <a:p>
            <a:r>
              <a:rPr lang="en-GB" dirty="0"/>
              <a:t>LIME helps you understand </a:t>
            </a:r>
            <a:r>
              <a:rPr lang="en-GB" i="1" dirty="0"/>
              <a:t>why</a:t>
            </a:r>
            <a:r>
              <a:rPr lang="en-GB" dirty="0"/>
              <a:t> it gave that specific answer for that specific input.</a:t>
            </a:r>
          </a:p>
          <a:p>
            <a:r>
              <a:rPr lang="en-GB" dirty="0"/>
              <a:t>It works by slightly changing your input many times and seeing how the machine's answer changes. Based on these slight changes and the resulting answers, LIME builds a simple, understandable model </a:t>
            </a:r>
            <a:r>
              <a:rPr lang="en-GB" i="1" dirty="0"/>
              <a:t>just for that specific input and its close variations</a:t>
            </a:r>
            <a:r>
              <a:rPr lang="en-GB" dirty="0"/>
              <a:t>.</a:t>
            </a:r>
          </a:p>
          <a:p>
            <a:r>
              <a:rPr lang="en-GB" dirty="0"/>
              <a:t>This simple model then shows you which parts of your input were most important in influencing the complex machine's decision for that one case. It's like shining a flashlight on a small part of the complex machine to see what's happening there.</a:t>
            </a:r>
          </a:p>
          <a:p>
            <a:endParaRPr lang="en-GB" dirty="0"/>
          </a:p>
        </p:txBody>
      </p:sp>
      <p:sp>
        <p:nvSpPr>
          <p:cNvPr id="4" name="Slide Number Placeholder 3"/>
          <p:cNvSpPr>
            <a:spLocks noGrp="1"/>
          </p:cNvSpPr>
          <p:nvPr>
            <p:ph type="sldNum" sz="quarter" idx="5"/>
          </p:nvPr>
        </p:nvSpPr>
        <p:spPr/>
        <p:txBody>
          <a:bodyPr/>
          <a:lstStyle/>
          <a:p>
            <a:fld id="{1E350298-B774-44B4-9266-65B1840B0B98}" type="slidenum">
              <a:rPr lang="en-GB" smtClean="0"/>
              <a:t>15</a:t>
            </a:fld>
            <a:endParaRPr lang="en-GB"/>
          </a:p>
        </p:txBody>
      </p:sp>
    </p:spTree>
    <p:extLst>
      <p:ext uri="{BB962C8B-B14F-4D97-AF65-F5344CB8AC3E}">
        <p14:creationId xmlns:p14="http://schemas.microsoft.com/office/powerpoint/2010/main" val="23165074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f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f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f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7.jf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jfif"/><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book with a statue of a person and scales of justice&#10;&#10;AI-generated content may be incorrect.">
            <a:extLst>
              <a:ext uri="{FF2B5EF4-FFF2-40B4-BE49-F238E27FC236}">
                <a16:creationId xmlns:a16="http://schemas.microsoft.com/office/drawing/2014/main" id="{1DCB4B40-569E-3493-DC34-2738A9422CAD}"/>
              </a:ext>
            </a:extLst>
          </p:cNvPr>
          <p:cNvPicPr>
            <a:picLocks noChangeAspect="1"/>
          </p:cNvPicPr>
          <p:nvPr/>
        </p:nvPicPr>
        <p:blipFill>
          <a:blip r:embed="rId3">
            <a:alphaModFix amt="50000"/>
          </a:blip>
          <a:srcRect t="9818" r="-1" b="15162"/>
          <a:stretch>
            <a:fillRect/>
          </a:stretch>
        </p:blipFill>
        <p:spPr>
          <a:xfrm>
            <a:off x="20" y="10"/>
            <a:ext cx="9141692" cy="6857990"/>
          </a:xfrm>
          <a:prstGeom prst="rect">
            <a:avLst/>
          </a:prstGeom>
        </p:spPr>
      </p:pic>
      <p:sp>
        <p:nvSpPr>
          <p:cNvPr id="2" name="Title 1">
            <a:extLst>
              <a:ext uri="{FF2B5EF4-FFF2-40B4-BE49-F238E27FC236}">
                <a16:creationId xmlns:a16="http://schemas.microsoft.com/office/drawing/2014/main" id="{9BEABBE5-6DDD-E003-0ED6-EE573C3FDF5E}"/>
              </a:ext>
            </a:extLst>
          </p:cNvPr>
          <p:cNvSpPr>
            <a:spLocks noGrp="1"/>
          </p:cNvSpPr>
          <p:nvPr>
            <p:ph type="title"/>
          </p:nvPr>
        </p:nvSpPr>
        <p:spPr>
          <a:xfrm>
            <a:off x="1143000" y="1122363"/>
            <a:ext cx="6858000" cy="3063240"/>
          </a:xfrm>
        </p:spPr>
        <p:txBody>
          <a:bodyPr vert="horz" lIns="91440" tIns="45720" rIns="91440" bIns="45720" rtlCol="0" anchor="b">
            <a:normAutofit fontScale="90000"/>
          </a:bodyPr>
          <a:lstStyle/>
          <a:p>
            <a:pPr defTabSz="914400">
              <a:lnSpc>
                <a:spcPct val="90000"/>
              </a:lnSpc>
            </a:pPr>
            <a:r>
              <a:rPr lang="en-US" sz="4800" b="1" dirty="0">
                <a:solidFill>
                  <a:schemeClr val="bg1"/>
                </a:solidFill>
                <a:latin typeface="Times New Roman" panose="02020603050405020304" pitchFamily="18" charset="0"/>
                <a:cs typeface="Times New Roman" panose="02020603050405020304" pitchFamily="18" charset="0"/>
              </a:rPr>
              <a:t>Tackling Transparency and Bias In Healthcare AI using Technical Strategies and Legal Solutions.</a:t>
            </a:r>
          </a:p>
        </p:txBody>
      </p:sp>
      <p:sp>
        <p:nvSpPr>
          <p:cNvPr id="7" name="TextBox 6">
            <a:extLst>
              <a:ext uri="{FF2B5EF4-FFF2-40B4-BE49-F238E27FC236}">
                <a16:creationId xmlns:a16="http://schemas.microsoft.com/office/drawing/2014/main" id="{80D66738-8844-EA33-FB7E-F085613A3858}"/>
              </a:ext>
            </a:extLst>
          </p:cNvPr>
          <p:cNvSpPr txBox="1"/>
          <p:nvPr/>
        </p:nvSpPr>
        <p:spPr>
          <a:xfrm>
            <a:off x="1145286" y="4599432"/>
            <a:ext cx="6858000" cy="1536192"/>
          </a:xfrm>
          <a:prstGeom prst="rect">
            <a:avLst/>
          </a:prstGeom>
        </p:spPr>
        <p:txBody>
          <a:bodyPr vert="horz" lIns="91440" tIns="45720" rIns="91440" bIns="45720" rtlCol="0">
            <a:normAutofit/>
          </a:bodyPr>
          <a:lstStyle/>
          <a:p>
            <a:pPr algn="ctr" defTabSz="914400">
              <a:lnSpc>
                <a:spcPct val="90000"/>
              </a:lnSpc>
              <a:spcBef>
                <a:spcPts val="1000"/>
              </a:spcBef>
            </a:pPr>
            <a:r>
              <a:rPr lang="en-US" sz="2400" dirty="0">
                <a:solidFill>
                  <a:schemeClr val="bg1"/>
                </a:solidFill>
                <a:latin typeface="Times New Roman" panose="02020603050405020304" pitchFamily="18" charset="0"/>
                <a:cs typeface="Times New Roman" panose="02020603050405020304" pitchFamily="18" charset="0"/>
              </a:rPr>
              <a:t>Presented By: Project 2 Team.</a:t>
            </a:r>
          </a:p>
        </p:txBody>
      </p:sp>
      <p:sp>
        <p:nvSpPr>
          <p:cNvPr id="16"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980654" y="4368623"/>
            <a:ext cx="3182692" cy="18288"/>
          </a:xfrm>
          <a:custGeom>
            <a:avLst/>
            <a:gdLst>
              <a:gd name="connsiteX0" fmla="*/ 0 w 3182692"/>
              <a:gd name="connsiteY0" fmla="*/ 0 h 18288"/>
              <a:gd name="connsiteX1" fmla="*/ 636538 w 3182692"/>
              <a:gd name="connsiteY1" fmla="*/ 0 h 18288"/>
              <a:gd name="connsiteX2" fmla="*/ 1273077 w 3182692"/>
              <a:gd name="connsiteY2" fmla="*/ 0 h 18288"/>
              <a:gd name="connsiteX3" fmla="*/ 1909615 w 3182692"/>
              <a:gd name="connsiteY3" fmla="*/ 0 h 18288"/>
              <a:gd name="connsiteX4" fmla="*/ 2482500 w 3182692"/>
              <a:gd name="connsiteY4" fmla="*/ 0 h 18288"/>
              <a:gd name="connsiteX5" fmla="*/ 3182692 w 3182692"/>
              <a:gd name="connsiteY5" fmla="*/ 0 h 18288"/>
              <a:gd name="connsiteX6" fmla="*/ 3182692 w 3182692"/>
              <a:gd name="connsiteY6" fmla="*/ 18288 h 18288"/>
              <a:gd name="connsiteX7" fmla="*/ 2609807 w 3182692"/>
              <a:gd name="connsiteY7" fmla="*/ 18288 h 18288"/>
              <a:gd name="connsiteX8" fmla="*/ 2068750 w 3182692"/>
              <a:gd name="connsiteY8" fmla="*/ 18288 h 18288"/>
              <a:gd name="connsiteX9" fmla="*/ 1432211 w 3182692"/>
              <a:gd name="connsiteY9" fmla="*/ 18288 h 18288"/>
              <a:gd name="connsiteX10" fmla="*/ 859327 w 3182692"/>
              <a:gd name="connsiteY10" fmla="*/ 18288 h 18288"/>
              <a:gd name="connsiteX11" fmla="*/ 0 w 3182692"/>
              <a:gd name="connsiteY11" fmla="*/ 18288 h 18288"/>
              <a:gd name="connsiteX12" fmla="*/ 0 w 3182692"/>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82692" h="18288" fill="none" extrusionOk="0">
                <a:moveTo>
                  <a:pt x="0" y="0"/>
                </a:moveTo>
                <a:cubicBezTo>
                  <a:pt x="253588" y="25878"/>
                  <a:pt x="409323" y="-5359"/>
                  <a:pt x="636538" y="0"/>
                </a:cubicBezTo>
                <a:cubicBezTo>
                  <a:pt x="863753" y="5359"/>
                  <a:pt x="1007727" y="-28"/>
                  <a:pt x="1273077" y="0"/>
                </a:cubicBezTo>
                <a:cubicBezTo>
                  <a:pt x="1538427" y="28"/>
                  <a:pt x="1698640" y="-12775"/>
                  <a:pt x="1909615" y="0"/>
                </a:cubicBezTo>
                <a:cubicBezTo>
                  <a:pt x="2120590" y="12775"/>
                  <a:pt x="2210293" y="-21823"/>
                  <a:pt x="2482500" y="0"/>
                </a:cubicBezTo>
                <a:cubicBezTo>
                  <a:pt x="2754708" y="21823"/>
                  <a:pt x="3004133" y="-28750"/>
                  <a:pt x="3182692" y="0"/>
                </a:cubicBezTo>
                <a:cubicBezTo>
                  <a:pt x="3183134" y="4516"/>
                  <a:pt x="3181865" y="12266"/>
                  <a:pt x="3182692" y="18288"/>
                </a:cubicBezTo>
                <a:cubicBezTo>
                  <a:pt x="2947402" y="22440"/>
                  <a:pt x="2876226" y="27191"/>
                  <a:pt x="2609807" y="18288"/>
                </a:cubicBezTo>
                <a:cubicBezTo>
                  <a:pt x="2343389" y="9385"/>
                  <a:pt x="2326689" y="25579"/>
                  <a:pt x="2068750" y="18288"/>
                </a:cubicBezTo>
                <a:cubicBezTo>
                  <a:pt x="1810811" y="10997"/>
                  <a:pt x="1713836" y="48219"/>
                  <a:pt x="1432211" y="18288"/>
                </a:cubicBezTo>
                <a:cubicBezTo>
                  <a:pt x="1150586" y="-11643"/>
                  <a:pt x="982765" y="3747"/>
                  <a:pt x="859327" y="18288"/>
                </a:cubicBezTo>
                <a:cubicBezTo>
                  <a:pt x="735889" y="32829"/>
                  <a:pt x="254183" y="35231"/>
                  <a:pt x="0" y="18288"/>
                </a:cubicBezTo>
                <a:cubicBezTo>
                  <a:pt x="-306" y="11477"/>
                  <a:pt x="485" y="4355"/>
                  <a:pt x="0" y="0"/>
                </a:cubicBezTo>
                <a:close/>
              </a:path>
              <a:path w="3182692" h="18288" stroke="0" extrusionOk="0">
                <a:moveTo>
                  <a:pt x="0" y="0"/>
                </a:moveTo>
                <a:cubicBezTo>
                  <a:pt x="243108" y="-22426"/>
                  <a:pt x="387854" y="22949"/>
                  <a:pt x="572885" y="0"/>
                </a:cubicBezTo>
                <a:cubicBezTo>
                  <a:pt x="757916" y="-22949"/>
                  <a:pt x="923707" y="6797"/>
                  <a:pt x="1113942" y="0"/>
                </a:cubicBezTo>
                <a:cubicBezTo>
                  <a:pt x="1304177" y="-6797"/>
                  <a:pt x="1495991" y="20627"/>
                  <a:pt x="1686827" y="0"/>
                </a:cubicBezTo>
                <a:cubicBezTo>
                  <a:pt x="1877663" y="-20627"/>
                  <a:pt x="2170182" y="-20672"/>
                  <a:pt x="2323365" y="0"/>
                </a:cubicBezTo>
                <a:cubicBezTo>
                  <a:pt x="2476548" y="20672"/>
                  <a:pt x="2919164" y="6097"/>
                  <a:pt x="3182692" y="0"/>
                </a:cubicBezTo>
                <a:cubicBezTo>
                  <a:pt x="3183269" y="4624"/>
                  <a:pt x="3183511" y="11191"/>
                  <a:pt x="3182692" y="18288"/>
                </a:cubicBezTo>
                <a:cubicBezTo>
                  <a:pt x="3026065" y="-10849"/>
                  <a:pt x="2775006" y="23067"/>
                  <a:pt x="2546154" y="18288"/>
                </a:cubicBezTo>
                <a:cubicBezTo>
                  <a:pt x="2317302" y="13509"/>
                  <a:pt x="2168173" y="-8513"/>
                  <a:pt x="1845961" y="18288"/>
                </a:cubicBezTo>
                <a:cubicBezTo>
                  <a:pt x="1523749" y="45089"/>
                  <a:pt x="1450078" y="-844"/>
                  <a:pt x="1304904" y="18288"/>
                </a:cubicBezTo>
                <a:cubicBezTo>
                  <a:pt x="1159730" y="37420"/>
                  <a:pt x="942635" y="-10021"/>
                  <a:pt x="604711" y="18288"/>
                </a:cubicBezTo>
                <a:cubicBezTo>
                  <a:pt x="266787" y="46597"/>
                  <a:pt x="141927" y="-8395"/>
                  <a:pt x="0" y="18288"/>
                </a:cubicBezTo>
                <a:cubicBezTo>
                  <a:pt x="-171" y="12755"/>
                  <a:pt x="-690" y="793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56533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CF279DA7-462F-A70F-2279-5F305302B822}"/>
              </a:ext>
            </a:extLst>
          </p:cNvPr>
          <p:cNvPicPr>
            <a:picLocks noChangeAspect="1"/>
          </p:cNvPicPr>
          <p:nvPr/>
        </p:nvPicPr>
        <p:blipFill>
          <a:blip r:embed="rId3">
            <a:alphaModFix amt="35000"/>
          </a:blip>
          <a:srcRect l="12500" r="12500"/>
          <a:stretch>
            <a:fillRect/>
          </a:stretch>
        </p:blipFill>
        <p:spPr>
          <a:xfrm>
            <a:off x="20" y="10"/>
            <a:ext cx="9143980" cy="6857990"/>
          </a:xfrm>
          <a:prstGeom prst="rect">
            <a:avLst/>
          </a:prstGeom>
        </p:spPr>
      </p:pic>
      <p:sp>
        <p:nvSpPr>
          <p:cNvPr id="2" name="Title 1"/>
          <p:cNvSpPr>
            <a:spLocks noGrp="1"/>
          </p:cNvSpPr>
          <p:nvPr>
            <p:ph type="title"/>
          </p:nvPr>
        </p:nvSpPr>
        <p:spPr>
          <a:xfrm>
            <a:off x="628650" y="365125"/>
            <a:ext cx="7886700" cy="1325563"/>
          </a:xfrm>
        </p:spPr>
        <p:txBody>
          <a:bodyPr>
            <a:normAutofit fontScale="90000"/>
          </a:bodyPr>
          <a:lstStyle/>
          <a:p>
            <a:r>
              <a:rPr lang="en-GB" u="sng" dirty="0">
                <a:solidFill>
                  <a:srgbClr val="FFFFFF"/>
                </a:solidFill>
                <a:latin typeface="Times New Roman" panose="02020603050405020304" pitchFamily="18" charset="0"/>
                <a:cs typeface="Times New Roman" panose="02020603050405020304" pitchFamily="18" charset="0"/>
              </a:rPr>
              <a:t>Understanding Bias In Healthcare AI </a:t>
            </a:r>
          </a:p>
        </p:txBody>
      </p:sp>
      <p:sp>
        <p:nvSpPr>
          <p:cNvPr id="3" name="Content Placeholder 2"/>
          <p:cNvSpPr>
            <a:spLocks noGrp="1"/>
          </p:cNvSpPr>
          <p:nvPr>
            <p:ph idx="1"/>
          </p:nvPr>
        </p:nvSpPr>
        <p:spPr>
          <a:xfrm>
            <a:off x="53788" y="3611562"/>
            <a:ext cx="9036423" cy="2968532"/>
          </a:xfrm>
        </p:spPr>
        <p:txBody>
          <a:bodyPr>
            <a:normAutofit fontScale="92500"/>
          </a:bodyPr>
          <a:lstStyle/>
          <a:p>
            <a:pPr marL="0" indent="0" algn="just">
              <a:buNone/>
            </a:pPr>
            <a:r>
              <a:rPr lang="en-GB" sz="4000" dirty="0">
                <a:solidFill>
                  <a:srgbClr val="FFFFFF"/>
                </a:solidFill>
                <a:latin typeface="Times New Roman" panose="02020603050405020304" pitchFamily="18" charset="0"/>
                <a:cs typeface="Times New Roman" panose="02020603050405020304" pitchFamily="18" charset="0"/>
              </a:rPr>
              <a:t>Bias in AI, particularly in healthcare AI, refers to the systematic and unfair discrimination against certain individuals or groups, leading to disparities in healthcare outcomes, treatment, and access. </a:t>
            </a:r>
          </a:p>
        </p:txBody>
      </p:sp>
    </p:spTree>
    <p:extLst>
      <p:ext uri="{BB962C8B-B14F-4D97-AF65-F5344CB8AC3E}">
        <p14:creationId xmlns:p14="http://schemas.microsoft.com/office/powerpoint/2010/main" val="2718389605"/>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oup of people wearing masks&#10;&#10;AI-generated content may be incorrect.">
            <a:extLst>
              <a:ext uri="{FF2B5EF4-FFF2-40B4-BE49-F238E27FC236}">
                <a16:creationId xmlns:a16="http://schemas.microsoft.com/office/drawing/2014/main" id="{2A0385A6-12D6-131D-BCBF-BD312CF9C04E}"/>
              </a:ext>
            </a:extLst>
          </p:cNvPr>
          <p:cNvPicPr>
            <a:picLocks noChangeAspect="1"/>
          </p:cNvPicPr>
          <p:nvPr/>
        </p:nvPicPr>
        <p:blipFill>
          <a:blip r:embed="rId3">
            <a:alphaModFix amt="35000"/>
          </a:blip>
          <a:srcRect t="19753" b="5247"/>
          <a:stretch>
            <a:fillRect/>
          </a:stretch>
        </p:blipFill>
        <p:spPr>
          <a:xfrm>
            <a:off x="20" y="10"/>
            <a:ext cx="9143980" cy="6857990"/>
          </a:xfrm>
          <a:prstGeom prst="rect">
            <a:avLst/>
          </a:prstGeom>
        </p:spPr>
      </p:pic>
      <p:sp>
        <p:nvSpPr>
          <p:cNvPr id="2" name="Title 1">
            <a:extLst>
              <a:ext uri="{FF2B5EF4-FFF2-40B4-BE49-F238E27FC236}">
                <a16:creationId xmlns:a16="http://schemas.microsoft.com/office/drawing/2014/main" id="{BEF2BFDB-A877-5329-AE40-F28FBC478D8B}"/>
              </a:ext>
            </a:extLst>
          </p:cNvPr>
          <p:cNvSpPr>
            <a:spLocks noGrp="1"/>
          </p:cNvSpPr>
          <p:nvPr>
            <p:ph type="title"/>
          </p:nvPr>
        </p:nvSpPr>
        <p:spPr>
          <a:xfrm>
            <a:off x="628650" y="643031"/>
            <a:ext cx="7886700" cy="1325563"/>
          </a:xfrm>
        </p:spPr>
        <p:txBody>
          <a:bodyPr>
            <a:normAutofit/>
          </a:bodyPr>
          <a:lstStyle/>
          <a:p>
            <a:pPr marL="0" indent="0">
              <a:buNone/>
            </a:pPr>
            <a:r>
              <a:rPr lang="en-GB" u="sng" dirty="0">
                <a:solidFill>
                  <a:srgbClr val="FFFFFF"/>
                </a:solidFill>
                <a:latin typeface="Times New Roman" panose="02020603050405020304" pitchFamily="18" charset="0"/>
                <a:cs typeface="Times New Roman" panose="02020603050405020304" pitchFamily="18" charset="0"/>
              </a:rPr>
              <a:t>Effects of Bias in Healthcare AI</a:t>
            </a:r>
          </a:p>
        </p:txBody>
      </p:sp>
      <p:sp>
        <p:nvSpPr>
          <p:cNvPr id="3" name="Content Placeholder 2">
            <a:extLst>
              <a:ext uri="{FF2B5EF4-FFF2-40B4-BE49-F238E27FC236}">
                <a16:creationId xmlns:a16="http://schemas.microsoft.com/office/drawing/2014/main" id="{B1E927A4-3334-51EA-E3DD-A8B8C4F65389}"/>
              </a:ext>
            </a:extLst>
          </p:cNvPr>
          <p:cNvSpPr>
            <a:spLocks noGrp="1"/>
          </p:cNvSpPr>
          <p:nvPr>
            <p:ph idx="1"/>
          </p:nvPr>
        </p:nvSpPr>
        <p:spPr>
          <a:xfrm>
            <a:off x="727262" y="1879413"/>
            <a:ext cx="7886700" cy="3822140"/>
          </a:xfrm>
        </p:spPr>
        <p:txBody>
          <a:bodyPr>
            <a:normAutofit lnSpcReduction="10000"/>
          </a:bodyPr>
          <a:lstStyle/>
          <a:p>
            <a:pPr algn="just"/>
            <a:r>
              <a:rPr lang="en-GB" sz="3600" dirty="0">
                <a:solidFill>
                  <a:srgbClr val="FFFFFF"/>
                </a:solidFill>
                <a:latin typeface="Times New Roman" panose="02020603050405020304" pitchFamily="18" charset="0"/>
                <a:cs typeface="Times New Roman" panose="02020603050405020304" pitchFamily="18" charset="0"/>
              </a:rPr>
              <a:t>Misdiagnosis or underdiagnosis in marginalised groups.</a:t>
            </a:r>
          </a:p>
          <a:p>
            <a:pPr algn="just"/>
            <a:r>
              <a:rPr lang="en-GB" sz="3600" dirty="0">
                <a:solidFill>
                  <a:srgbClr val="FFFFFF"/>
                </a:solidFill>
                <a:latin typeface="Times New Roman" panose="02020603050405020304" pitchFamily="18" charset="0"/>
                <a:cs typeface="Times New Roman" panose="02020603050405020304" pitchFamily="18" charset="0"/>
              </a:rPr>
              <a:t>Reduced trust in AI tools.</a:t>
            </a:r>
          </a:p>
          <a:p>
            <a:pPr algn="just"/>
            <a:r>
              <a:rPr lang="en-GB" sz="3600" dirty="0">
                <a:solidFill>
                  <a:srgbClr val="FFFFFF"/>
                </a:solidFill>
                <a:latin typeface="Times New Roman" panose="02020603050405020304" pitchFamily="18" charset="0"/>
                <a:cs typeface="Times New Roman" panose="02020603050405020304" pitchFamily="18" charset="0"/>
              </a:rPr>
              <a:t>Worsened health disparities.</a:t>
            </a:r>
          </a:p>
          <a:p>
            <a:pPr algn="just"/>
            <a:r>
              <a:rPr lang="en-GB" sz="3600" dirty="0">
                <a:solidFill>
                  <a:srgbClr val="FFFFFF"/>
                </a:solidFill>
                <a:latin typeface="Times New Roman" panose="02020603050405020304" pitchFamily="18" charset="0"/>
                <a:cs typeface="Times New Roman" panose="02020603050405020304" pitchFamily="18" charset="0"/>
              </a:rPr>
              <a:t>Suboptimal Treatment Plans.</a:t>
            </a:r>
          </a:p>
          <a:p>
            <a:pPr algn="just"/>
            <a:r>
              <a:rPr lang="en-GB" sz="3600" dirty="0">
                <a:solidFill>
                  <a:srgbClr val="FFFFFF"/>
                </a:solidFill>
                <a:latin typeface="Times New Roman" panose="02020603050405020304" pitchFamily="18" charset="0"/>
                <a:cs typeface="Times New Roman" panose="02020603050405020304" pitchFamily="18" charset="0"/>
              </a:rPr>
              <a:t>Unequal Access to Care.</a:t>
            </a:r>
          </a:p>
        </p:txBody>
      </p:sp>
    </p:spTree>
    <p:extLst>
      <p:ext uri="{BB962C8B-B14F-4D97-AF65-F5344CB8AC3E}">
        <p14:creationId xmlns:p14="http://schemas.microsoft.com/office/powerpoint/2010/main" val="2227572643"/>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F2BFDB-A877-5329-AE40-F28FBC478D8B}"/>
              </a:ext>
            </a:extLst>
          </p:cNvPr>
          <p:cNvSpPr>
            <a:spLocks noGrp="1"/>
          </p:cNvSpPr>
          <p:nvPr>
            <p:ph type="title"/>
          </p:nvPr>
        </p:nvSpPr>
        <p:spPr>
          <a:xfrm>
            <a:off x="571350" y="762001"/>
            <a:ext cx="4000647" cy="1708242"/>
          </a:xfrm>
        </p:spPr>
        <p:txBody>
          <a:bodyPr anchor="ctr">
            <a:normAutofit/>
          </a:bodyPr>
          <a:lstStyle/>
          <a:p>
            <a:r>
              <a:rPr lang="en-GB" sz="3500" u="sng" dirty="0">
                <a:latin typeface="Times New Roman" panose="02020603050405020304" pitchFamily="18" charset="0"/>
                <a:cs typeface="Times New Roman" panose="02020603050405020304" pitchFamily="18" charset="0"/>
              </a:rPr>
              <a:t>Sources of Bias</a:t>
            </a:r>
          </a:p>
        </p:txBody>
      </p:sp>
      <p:sp>
        <p:nvSpPr>
          <p:cNvPr id="3" name="Content Placeholder 2">
            <a:extLst>
              <a:ext uri="{FF2B5EF4-FFF2-40B4-BE49-F238E27FC236}">
                <a16:creationId xmlns:a16="http://schemas.microsoft.com/office/drawing/2014/main" id="{B1E927A4-3334-51EA-E3DD-A8B8C4F65389}"/>
              </a:ext>
            </a:extLst>
          </p:cNvPr>
          <p:cNvSpPr>
            <a:spLocks noGrp="1"/>
          </p:cNvSpPr>
          <p:nvPr>
            <p:ph idx="1"/>
          </p:nvPr>
        </p:nvSpPr>
        <p:spPr>
          <a:xfrm>
            <a:off x="358589" y="1093049"/>
            <a:ext cx="4616823" cy="4859516"/>
          </a:xfrm>
        </p:spPr>
        <p:txBody>
          <a:bodyPr anchor="ctr">
            <a:normAutofit/>
          </a:bodyPr>
          <a:lstStyle/>
          <a:p>
            <a:r>
              <a:rPr lang="en-GB" sz="2800" b="1" dirty="0">
                <a:latin typeface="Times New Roman" panose="02020603050405020304" pitchFamily="18" charset="0"/>
                <a:cs typeface="Times New Roman" panose="02020603050405020304" pitchFamily="18" charset="0"/>
              </a:rPr>
              <a:t>Data</a:t>
            </a:r>
            <a:r>
              <a:rPr lang="en-GB" sz="2800" dirty="0">
                <a:latin typeface="Times New Roman" panose="02020603050405020304" pitchFamily="18" charset="0"/>
                <a:cs typeface="Times New Roman" panose="02020603050405020304" pitchFamily="18" charset="0"/>
              </a:rPr>
              <a:t>: Non-representative or imbalanced datasets.</a:t>
            </a:r>
          </a:p>
          <a:p>
            <a:r>
              <a:rPr lang="en-GB" sz="2800" b="1" dirty="0">
                <a:latin typeface="Times New Roman" panose="02020603050405020304" pitchFamily="18" charset="0"/>
                <a:cs typeface="Times New Roman" panose="02020603050405020304" pitchFamily="18" charset="0"/>
              </a:rPr>
              <a:t>Algorithms</a:t>
            </a:r>
            <a:r>
              <a:rPr lang="en-GB" sz="2800" dirty="0">
                <a:latin typeface="Times New Roman" panose="02020603050405020304" pitchFamily="18" charset="0"/>
                <a:cs typeface="Times New Roman" panose="02020603050405020304" pitchFamily="18" charset="0"/>
              </a:rPr>
              <a:t>: Design choices, parameter settings.</a:t>
            </a:r>
          </a:p>
          <a:p>
            <a:r>
              <a:rPr lang="en-GB" sz="2800" b="1" dirty="0">
                <a:latin typeface="Times New Roman" panose="02020603050405020304" pitchFamily="18" charset="0"/>
                <a:cs typeface="Times New Roman" panose="02020603050405020304" pitchFamily="18" charset="0"/>
              </a:rPr>
              <a:t>Human input</a:t>
            </a:r>
            <a:r>
              <a:rPr lang="en-GB" sz="2800" dirty="0">
                <a:latin typeface="Times New Roman" panose="02020603050405020304" pitchFamily="18" charset="0"/>
                <a:cs typeface="Times New Roman" panose="02020603050405020304" pitchFamily="18" charset="0"/>
              </a:rPr>
              <a:t>: Implicit assumptions by developers.</a:t>
            </a:r>
          </a:p>
        </p:txBody>
      </p:sp>
      <p:pic>
        <p:nvPicPr>
          <p:cNvPr id="5" name="Picture 4" descr="A computer with people on the screen&#10;&#10;AI-generated content may be incorrect.">
            <a:extLst>
              <a:ext uri="{FF2B5EF4-FFF2-40B4-BE49-F238E27FC236}">
                <a16:creationId xmlns:a16="http://schemas.microsoft.com/office/drawing/2014/main" id="{BAD297AD-AE31-7F53-25F9-ECE0C811A533}"/>
              </a:ext>
            </a:extLst>
          </p:cNvPr>
          <p:cNvPicPr>
            <a:picLocks noChangeAspect="1"/>
          </p:cNvPicPr>
          <p:nvPr/>
        </p:nvPicPr>
        <p:blipFill>
          <a:blip r:embed="rId3"/>
          <a:srcRect l="21835" r="19922"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112910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descr="A group of people looking at each other&#10;&#10;AI-generated content may be incorrect.">
            <a:extLst>
              <a:ext uri="{FF2B5EF4-FFF2-40B4-BE49-F238E27FC236}">
                <a16:creationId xmlns:a16="http://schemas.microsoft.com/office/drawing/2014/main" id="{21DB5821-B4C2-4FD8-C3B1-A09D2161A7D3}"/>
              </a:ext>
            </a:extLst>
          </p:cNvPr>
          <p:cNvPicPr>
            <a:picLocks noChangeAspect="1"/>
          </p:cNvPicPr>
          <p:nvPr/>
        </p:nvPicPr>
        <p:blipFill>
          <a:blip r:embed="rId2">
            <a:alphaModFix amt="35000"/>
          </a:blip>
          <a:srcRect l="15542" r="4458"/>
          <a:stretch>
            <a:fillRect/>
          </a:stretch>
        </p:blipFill>
        <p:spPr>
          <a:xfrm>
            <a:off x="0" y="0"/>
            <a:ext cx="9143980" cy="6857990"/>
          </a:xfrm>
          <a:prstGeom prst="rect">
            <a:avLst/>
          </a:prstGeom>
        </p:spPr>
      </p:pic>
      <p:sp>
        <p:nvSpPr>
          <p:cNvPr id="2" name="Title 1"/>
          <p:cNvSpPr>
            <a:spLocks noGrp="1"/>
          </p:cNvSpPr>
          <p:nvPr>
            <p:ph type="title"/>
          </p:nvPr>
        </p:nvSpPr>
        <p:spPr>
          <a:xfrm>
            <a:off x="745191" y="857248"/>
            <a:ext cx="7886700" cy="1009651"/>
          </a:xfrm>
        </p:spPr>
        <p:txBody>
          <a:bodyPr>
            <a:noAutofit/>
          </a:bodyPr>
          <a:lstStyle/>
          <a:p>
            <a:pPr>
              <a:lnSpc>
                <a:spcPct val="90000"/>
              </a:lnSpc>
            </a:pPr>
            <a:r>
              <a:rPr lang="en-GB" sz="7200" u="sng" dirty="0">
                <a:solidFill>
                  <a:srgbClr val="FFFFFF"/>
                </a:solidFill>
                <a:latin typeface="Times New Roman" panose="02020603050405020304" pitchFamily="18" charset="0"/>
                <a:cs typeface="Times New Roman" panose="02020603050405020304" pitchFamily="18" charset="0"/>
              </a:rPr>
              <a:t>Fairness</a:t>
            </a:r>
          </a:p>
        </p:txBody>
      </p:sp>
      <p:sp>
        <p:nvSpPr>
          <p:cNvPr id="3" name="Content Placeholder 2"/>
          <p:cNvSpPr>
            <a:spLocks noGrp="1"/>
          </p:cNvSpPr>
          <p:nvPr>
            <p:ph idx="1"/>
          </p:nvPr>
        </p:nvSpPr>
        <p:spPr>
          <a:xfrm>
            <a:off x="628650" y="2310138"/>
            <a:ext cx="7886700" cy="4351338"/>
          </a:xfrm>
        </p:spPr>
        <p:txBody>
          <a:bodyPr>
            <a:normAutofit/>
          </a:bodyPr>
          <a:lstStyle/>
          <a:p>
            <a:pPr marL="0" indent="0" algn="ctr">
              <a:buNone/>
            </a:pPr>
            <a:r>
              <a:rPr lang="en-GB" dirty="0">
                <a:solidFill>
                  <a:srgbClr val="FFFFFF"/>
                </a:solidFill>
                <a:latin typeface="Times New Roman"/>
              </a:rPr>
              <a:t>Fairness ensures that AI systems treat individuals and groups equitably, without unjustifiable adverse impacts based on characteristics such as race, gender, age, religion, disability, socioeconomic status, or other sensitive attributes.</a:t>
            </a:r>
          </a:p>
        </p:txBody>
      </p:sp>
    </p:spTree>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0"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D4CF46-8129-6CEA-1595-CF763EBD6105}"/>
              </a:ext>
            </a:extLst>
          </p:cNvPr>
          <p:cNvSpPr>
            <a:spLocks noGrp="1"/>
          </p:cNvSpPr>
          <p:nvPr>
            <p:ph type="title"/>
          </p:nvPr>
        </p:nvSpPr>
        <p:spPr>
          <a:xfrm>
            <a:off x="571353" y="582707"/>
            <a:ext cx="4000647" cy="1708242"/>
          </a:xfrm>
        </p:spPr>
        <p:txBody>
          <a:bodyPr anchor="ctr">
            <a:normAutofit/>
          </a:bodyPr>
          <a:lstStyle/>
          <a:p>
            <a:r>
              <a:rPr lang="en-GB" sz="3500" u="sng" dirty="0">
                <a:latin typeface="Times New Roman" panose="02020603050405020304" pitchFamily="18" charset="0"/>
                <a:cs typeface="Times New Roman" panose="02020603050405020304" pitchFamily="18" charset="0"/>
              </a:rPr>
              <a:t>Why is Fairness In Healthcare AI Important?</a:t>
            </a:r>
            <a:endParaRPr lang="en-GB" sz="3500" dirty="0"/>
          </a:p>
        </p:txBody>
      </p:sp>
      <p:sp>
        <p:nvSpPr>
          <p:cNvPr id="42" name="Content Placeholder 2">
            <a:extLst>
              <a:ext uri="{FF2B5EF4-FFF2-40B4-BE49-F238E27FC236}">
                <a16:creationId xmlns:a16="http://schemas.microsoft.com/office/drawing/2014/main" id="{AEC0E426-072B-911F-A078-1E238AD9CC57}"/>
              </a:ext>
            </a:extLst>
          </p:cNvPr>
          <p:cNvSpPr>
            <a:spLocks noGrp="1"/>
          </p:cNvSpPr>
          <p:nvPr>
            <p:ph idx="1"/>
          </p:nvPr>
        </p:nvSpPr>
        <p:spPr>
          <a:xfrm>
            <a:off x="330496" y="2457264"/>
            <a:ext cx="4527178" cy="3993309"/>
          </a:xfrm>
        </p:spPr>
        <p:txBody>
          <a:bodyPr anchor="ctr">
            <a:normAutofit/>
          </a:bodyPr>
          <a:lstStyle/>
          <a:p>
            <a:r>
              <a:rPr lang="en-GB" sz="2400" dirty="0">
                <a:latin typeface="Times New Roman"/>
              </a:rPr>
              <a:t>Prevents discrimination in healthcare outcomes.</a:t>
            </a:r>
          </a:p>
          <a:p>
            <a:r>
              <a:rPr lang="en-GB" sz="2400" dirty="0">
                <a:latin typeface="Times New Roman"/>
              </a:rPr>
              <a:t>Promotes health equity.</a:t>
            </a:r>
          </a:p>
          <a:p>
            <a:r>
              <a:rPr lang="en-GB" sz="2400" dirty="0">
                <a:latin typeface="Times New Roman"/>
              </a:rPr>
              <a:t>Enhances public trust in AI diagnostics.</a:t>
            </a:r>
          </a:p>
          <a:p>
            <a:r>
              <a:rPr lang="en-GB" sz="2400" dirty="0">
                <a:latin typeface="Times New Roman"/>
              </a:rPr>
              <a:t>Legal and ethical compliance (e.g., non-discrimination laws).</a:t>
            </a:r>
          </a:p>
          <a:p>
            <a:r>
              <a:rPr lang="en-GB" sz="2400" dirty="0">
                <a:latin typeface="Times New Roman"/>
              </a:rPr>
              <a:t>Supporting Clinical Decision-Making</a:t>
            </a:r>
          </a:p>
          <a:p>
            <a:pPr marL="0" indent="0">
              <a:buNone/>
            </a:pPr>
            <a:endParaRPr lang="en-GB" sz="2400" dirty="0"/>
          </a:p>
        </p:txBody>
      </p:sp>
      <p:pic>
        <p:nvPicPr>
          <p:cNvPr id="5" name="Picture 4" descr="A person and person helping each other to build a cross&#10;&#10;AI-generated content may be incorrect.">
            <a:extLst>
              <a:ext uri="{FF2B5EF4-FFF2-40B4-BE49-F238E27FC236}">
                <a16:creationId xmlns:a16="http://schemas.microsoft.com/office/drawing/2014/main" id="{86D951C1-08E4-8061-3AE6-524DD46D3E9E}"/>
              </a:ext>
            </a:extLst>
          </p:cNvPr>
          <p:cNvPicPr>
            <a:picLocks noChangeAspect="1"/>
          </p:cNvPicPr>
          <p:nvPr/>
        </p:nvPicPr>
        <p:blipFill>
          <a:blip r:embed="rId2"/>
          <a:srcRect l="14327" r="12868" b="-1"/>
          <a:stretch>
            <a:fillRect/>
          </a:stretch>
        </p:blipFill>
        <p:spPr>
          <a:xfrm>
            <a:off x="5143347" y="-10886"/>
            <a:ext cx="4000653"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7105407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E51BA4DF-2BD4-4EC2-B1DB-B27C8AC718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3415299" y="548464"/>
            <a:ext cx="5098906" cy="1675623"/>
          </a:xfrm>
        </p:spPr>
        <p:txBody>
          <a:bodyPr anchor="b">
            <a:normAutofit/>
          </a:bodyPr>
          <a:lstStyle/>
          <a:p>
            <a:r>
              <a:rPr lang="en-GB" sz="3500" u="sng">
                <a:latin typeface="Times New Roman" panose="02020603050405020304" pitchFamily="18" charset="0"/>
                <a:cs typeface="Times New Roman" panose="02020603050405020304" pitchFamily="18" charset="0"/>
              </a:rPr>
              <a:t>Transparency in Healthcare AI</a:t>
            </a:r>
            <a:endParaRPr lang="en-GB" sz="3500" u="sng" dirty="0">
              <a:latin typeface="Times New Roman" panose="02020603050405020304" pitchFamily="18" charset="0"/>
              <a:cs typeface="Times New Roman" panose="02020603050405020304" pitchFamily="18" charset="0"/>
            </a:endParaRPr>
          </a:p>
        </p:txBody>
      </p:sp>
      <p:pic>
        <p:nvPicPr>
          <p:cNvPr id="5" name="Picture 4" descr="A statue of a person covered in a veil&#10;&#10;AI-generated content may be incorrect.">
            <a:extLst>
              <a:ext uri="{FF2B5EF4-FFF2-40B4-BE49-F238E27FC236}">
                <a16:creationId xmlns:a16="http://schemas.microsoft.com/office/drawing/2014/main" id="{F0A887AD-D709-6117-8E71-194C928EC328}"/>
              </a:ext>
            </a:extLst>
          </p:cNvPr>
          <p:cNvPicPr>
            <a:picLocks noChangeAspect="1"/>
          </p:cNvPicPr>
          <p:nvPr/>
        </p:nvPicPr>
        <p:blipFill>
          <a:blip r:embed="rId3"/>
          <a:srcRect l="15516" r="15730"/>
          <a:stretch>
            <a:fillRect/>
          </a:stretch>
        </p:blipFill>
        <p:spPr>
          <a:xfrm>
            <a:off x="20" y="10"/>
            <a:ext cx="3147352" cy="6857990"/>
          </a:xfrm>
          <a:prstGeom prst="rect">
            <a:avLst/>
          </a:prstGeom>
          <a:effectLst/>
        </p:spPr>
      </p:pic>
      <p:sp>
        <p:nvSpPr>
          <p:cNvPr id="3" name="Content Placeholder 2"/>
          <p:cNvSpPr>
            <a:spLocks noGrp="1"/>
          </p:cNvSpPr>
          <p:nvPr>
            <p:ph idx="1"/>
          </p:nvPr>
        </p:nvSpPr>
        <p:spPr>
          <a:xfrm>
            <a:off x="3415300" y="2409830"/>
            <a:ext cx="5098904" cy="3705217"/>
          </a:xfrm>
        </p:spPr>
        <p:txBody>
          <a:bodyPr>
            <a:normAutofit/>
          </a:bodyPr>
          <a:lstStyle/>
          <a:p>
            <a:pPr marL="0" indent="0" algn="just">
              <a:buNone/>
            </a:pPr>
            <a:r>
              <a:rPr lang="en-GB" sz="1800">
                <a:latin typeface="Times New Roman"/>
              </a:rPr>
              <a:t>Transparency in healthcare AI is the principle of ensuring that the design, development, and operation of AI systems used in healthcare are open, understandable, and accessible to relevant stakeholders like the patients, healthcare professionals, regulators, and the public.</a:t>
            </a:r>
          </a:p>
          <a:p>
            <a:pPr marL="0" indent="0" algn="just">
              <a:buNone/>
            </a:pPr>
            <a:endParaRPr lang="en-GB" sz="1800">
              <a:latin typeface="Times New Roman"/>
            </a:endParaRPr>
          </a:p>
          <a:p>
            <a:pPr marL="0" indent="0" algn="just">
              <a:buNone/>
            </a:pPr>
            <a:r>
              <a:rPr lang="en-GB" sz="1800">
                <a:latin typeface="Times New Roman"/>
              </a:rPr>
              <a:t>It goes beyond simply knowing that AI is being used; it involves understanding how and why AI is being applied and the implications of its use in medical settings.</a:t>
            </a:r>
            <a:endParaRPr lang="en-GB" sz="1800" dirty="0">
              <a:latin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drawing of a spiraling spiral&#10;&#10;AI-generated content may be incorrect.">
            <a:extLst>
              <a:ext uri="{FF2B5EF4-FFF2-40B4-BE49-F238E27FC236}">
                <a16:creationId xmlns:a16="http://schemas.microsoft.com/office/drawing/2014/main" id="{EFD02447-51AC-5137-6997-08C3ECEC9B74}"/>
              </a:ext>
            </a:extLst>
          </p:cNvPr>
          <p:cNvPicPr>
            <a:picLocks noChangeAspect="1"/>
          </p:cNvPicPr>
          <p:nvPr/>
        </p:nvPicPr>
        <p:blipFill>
          <a:blip r:embed="rId3">
            <a:alphaModFix amt="35000"/>
          </a:blip>
          <a:srcRect t="28230" r="-1" b="9145"/>
          <a:stretch>
            <a:fillRect/>
          </a:stretch>
        </p:blipFill>
        <p:spPr>
          <a:xfrm>
            <a:off x="20" y="10"/>
            <a:ext cx="9143980" cy="6857990"/>
          </a:xfrm>
          <a:prstGeom prst="rect">
            <a:avLst/>
          </a:prstGeom>
        </p:spPr>
      </p:pic>
      <p:sp>
        <p:nvSpPr>
          <p:cNvPr id="2" name="Title 1"/>
          <p:cNvSpPr>
            <a:spLocks noGrp="1"/>
          </p:cNvSpPr>
          <p:nvPr>
            <p:ph type="title"/>
          </p:nvPr>
        </p:nvSpPr>
        <p:spPr>
          <a:xfrm>
            <a:off x="628650" y="365125"/>
            <a:ext cx="7886700" cy="1325563"/>
          </a:xfrm>
        </p:spPr>
        <p:txBody>
          <a:bodyPr>
            <a:normAutofit/>
          </a:bodyPr>
          <a:lstStyle/>
          <a:p>
            <a:pPr>
              <a:lnSpc>
                <a:spcPct val="90000"/>
              </a:lnSpc>
            </a:pPr>
            <a:r>
              <a:rPr lang="en-GB" u="sng">
                <a:solidFill>
                  <a:srgbClr val="FFFFFF"/>
                </a:solidFill>
                <a:latin typeface="Times New Roman" panose="02020603050405020304" pitchFamily="18" charset="0"/>
                <a:cs typeface="Times New Roman" panose="02020603050405020304" pitchFamily="18" charset="0"/>
              </a:rPr>
              <a:t>Challenges to Achieving Transparency in Healthcare AI</a:t>
            </a:r>
          </a:p>
        </p:txBody>
      </p:sp>
      <p:sp>
        <p:nvSpPr>
          <p:cNvPr id="3" name="Content Placeholder 2"/>
          <p:cNvSpPr>
            <a:spLocks noGrp="1"/>
          </p:cNvSpPr>
          <p:nvPr>
            <p:ph idx="1"/>
          </p:nvPr>
        </p:nvSpPr>
        <p:spPr>
          <a:xfrm>
            <a:off x="628650" y="1825625"/>
            <a:ext cx="7886700" cy="4351338"/>
          </a:xfrm>
        </p:spPr>
        <p:txBody>
          <a:bodyPr>
            <a:normAutofit/>
          </a:bodyPr>
          <a:lstStyle/>
          <a:p>
            <a:r>
              <a:rPr lang="en-GB">
                <a:solidFill>
                  <a:srgbClr val="FFFFFF"/>
                </a:solidFill>
                <a:latin typeface="Times New Roman"/>
              </a:rPr>
              <a:t>Complexity of AI Models.</a:t>
            </a:r>
          </a:p>
          <a:p>
            <a:r>
              <a:rPr lang="en-GB">
                <a:solidFill>
                  <a:srgbClr val="FFFFFF"/>
                </a:solidFill>
                <a:latin typeface="Times New Roman"/>
              </a:rPr>
              <a:t>Balancing Transparency with Intellectual Property.</a:t>
            </a:r>
          </a:p>
          <a:p>
            <a:r>
              <a:rPr lang="en-GB">
                <a:solidFill>
                  <a:srgbClr val="FFFFFF"/>
                </a:solidFill>
                <a:latin typeface="Times New Roman"/>
              </a:rPr>
              <a:t>Data Privacy and Security</a:t>
            </a:r>
          </a:p>
          <a:p>
            <a:r>
              <a:rPr lang="en-GB">
                <a:solidFill>
                  <a:srgbClr val="FFFFFF"/>
                </a:solidFill>
                <a:latin typeface="Times New Roman"/>
              </a:rPr>
              <a:t>Diverse Stakeholder Needs</a:t>
            </a:r>
          </a:p>
          <a:p>
            <a:r>
              <a:rPr lang="en-GB">
                <a:solidFill>
                  <a:srgbClr val="FFFFFF"/>
                </a:solidFill>
                <a:latin typeface="Times New Roman"/>
              </a:rPr>
              <a:t>Dynamic Nature of AI</a:t>
            </a:r>
          </a:p>
          <a:p>
            <a:r>
              <a:rPr lang="en-GB">
                <a:solidFill>
                  <a:srgbClr val="FFFFFF"/>
                </a:solidFill>
                <a:latin typeface="Times New Roman"/>
              </a:rPr>
              <a:t>Lack of Standardization</a:t>
            </a:r>
          </a:p>
          <a:p>
            <a:endParaRPr lang="en-GB">
              <a:solidFill>
                <a:srgbClr val="FFFFFF"/>
              </a:solidFill>
              <a:latin typeface="Times New Roman"/>
            </a:endParaRPr>
          </a:p>
          <a:p>
            <a:endParaRPr lang="en-GB">
              <a:solidFill>
                <a:srgbClr val="FFFFFF"/>
              </a:solidFill>
              <a:latin typeface="Times New Roman"/>
            </a:endParaRPr>
          </a:p>
          <a:p>
            <a:endParaRPr lang="en-GB">
              <a:solidFill>
                <a:srgbClr val="FFFFFF"/>
              </a:solidFill>
              <a:latin typeface="Times New Roman"/>
            </a:endParaRPr>
          </a:p>
          <a:p>
            <a:endParaRPr lang="en-GB">
              <a:solidFill>
                <a:srgbClr val="FFFFFF"/>
              </a:solidFill>
              <a:latin typeface="Times New Roman"/>
            </a:endParaRPr>
          </a:p>
        </p:txBody>
      </p:sp>
    </p:spTree>
    <p:extLst>
      <p:ext uri="{BB962C8B-B14F-4D97-AF65-F5344CB8AC3E}">
        <p14:creationId xmlns:p14="http://schemas.microsoft.com/office/powerpoint/2010/main" val="567866945"/>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group of people holding up posters&#10;&#10;AI-generated content may be incorrect.">
            <a:extLst>
              <a:ext uri="{FF2B5EF4-FFF2-40B4-BE49-F238E27FC236}">
                <a16:creationId xmlns:a16="http://schemas.microsoft.com/office/drawing/2014/main" id="{DD5C6AF6-8938-EE51-A346-83F21C4880B3}"/>
              </a:ext>
            </a:extLst>
          </p:cNvPr>
          <p:cNvPicPr>
            <a:picLocks noChangeAspect="1"/>
          </p:cNvPicPr>
          <p:nvPr/>
        </p:nvPicPr>
        <p:blipFill>
          <a:blip r:embed="rId3">
            <a:alphaModFix amt="35000"/>
          </a:blip>
          <a:srcRect t="16666" r="-1" b="26521"/>
          <a:stretch>
            <a:fillRect/>
          </a:stretch>
        </p:blipFill>
        <p:spPr>
          <a:xfrm>
            <a:off x="20" y="10"/>
            <a:ext cx="9143980" cy="6857990"/>
          </a:xfrm>
          <a:prstGeom prst="rect">
            <a:avLst/>
          </a:prstGeom>
        </p:spPr>
      </p:pic>
      <p:sp>
        <p:nvSpPr>
          <p:cNvPr id="2" name="Title 1"/>
          <p:cNvSpPr>
            <a:spLocks noGrp="1"/>
          </p:cNvSpPr>
          <p:nvPr>
            <p:ph type="title"/>
          </p:nvPr>
        </p:nvSpPr>
        <p:spPr>
          <a:xfrm>
            <a:off x="628650" y="365125"/>
            <a:ext cx="7886700" cy="1325563"/>
          </a:xfrm>
        </p:spPr>
        <p:txBody>
          <a:bodyPr>
            <a:normAutofit/>
          </a:bodyPr>
          <a:lstStyle/>
          <a:p>
            <a:pPr>
              <a:lnSpc>
                <a:spcPct val="90000"/>
              </a:lnSpc>
            </a:pPr>
            <a:r>
              <a:rPr lang="en-GB" sz="3100" u="sng">
                <a:solidFill>
                  <a:srgbClr val="FFFFFF"/>
                </a:solidFill>
                <a:latin typeface="Times New Roman" panose="02020603050405020304" pitchFamily="18" charset="0"/>
                <a:cs typeface="Times New Roman" panose="02020603050405020304" pitchFamily="18" charset="0"/>
              </a:rPr>
              <a:t>Mitigating Bias and Achieving Fairness &amp; Transparency using Legal and Technical Tools.</a:t>
            </a:r>
          </a:p>
        </p:txBody>
      </p:sp>
      <p:sp>
        <p:nvSpPr>
          <p:cNvPr id="3" name="Content Placeholder 2"/>
          <p:cNvSpPr>
            <a:spLocks noGrp="1"/>
          </p:cNvSpPr>
          <p:nvPr>
            <p:ph idx="1"/>
          </p:nvPr>
        </p:nvSpPr>
        <p:spPr>
          <a:xfrm>
            <a:off x="313765" y="1704976"/>
            <a:ext cx="8749552" cy="4802187"/>
          </a:xfrm>
        </p:spPr>
        <p:txBody>
          <a:bodyPr>
            <a:normAutofit lnSpcReduction="10000"/>
          </a:bodyPr>
          <a:lstStyle/>
          <a:p>
            <a:pPr>
              <a:lnSpc>
                <a:spcPct val="90000"/>
              </a:lnSpc>
            </a:pPr>
            <a:r>
              <a:rPr lang="en-GB" sz="2000" b="1" dirty="0">
                <a:solidFill>
                  <a:srgbClr val="FFFFFF"/>
                </a:solidFill>
                <a:latin typeface="Times New Roman"/>
              </a:rPr>
              <a:t>Implement GDPR/Consent Tech</a:t>
            </a:r>
            <a:r>
              <a:rPr lang="en-GB" sz="2000" dirty="0">
                <a:solidFill>
                  <a:srgbClr val="FFFFFF"/>
                </a:solidFill>
                <a:latin typeface="Times New Roman"/>
              </a:rPr>
              <a:t>: Build systems for clear consent opt-in/out, minimal data collection, and secure data handling as legally required by GDPR.</a:t>
            </a:r>
          </a:p>
          <a:p>
            <a:pPr>
              <a:lnSpc>
                <a:spcPct val="90000"/>
              </a:lnSpc>
            </a:pPr>
            <a:endParaRPr lang="en-GB" sz="2000" dirty="0">
              <a:solidFill>
                <a:srgbClr val="FFFFFF"/>
              </a:solidFill>
              <a:latin typeface="Times New Roman"/>
            </a:endParaRPr>
          </a:p>
          <a:p>
            <a:pPr>
              <a:lnSpc>
                <a:spcPct val="90000"/>
              </a:lnSpc>
            </a:pPr>
            <a:r>
              <a:rPr lang="en-GB" sz="2000" b="1" dirty="0">
                <a:solidFill>
                  <a:srgbClr val="FFFFFF"/>
                </a:solidFill>
                <a:latin typeface="Times New Roman"/>
              </a:rPr>
              <a:t>Audit Data &amp; Guide Collection: </a:t>
            </a:r>
            <a:r>
              <a:rPr lang="en-GB" sz="2000" dirty="0">
                <a:solidFill>
                  <a:srgbClr val="FFFFFF"/>
                </a:solidFill>
                <a:latin typeface="Times New Roman"/>
              </a:rPr>
              <a:t>Audit datasets for bias regularly and work to ensure data collection is representative.</a:t>
            </a:r>
          </a:p>
          <a:p>
            <a:pPr>
              <a:lnSpc>
                <a:spcPct val="90000"/>
              </a:lnSpc>
            </a:pPr>
            <a:endParaRPr lang="en-GB" sz="2000" dirty="0">
              <a:solidFill>
                <a:srgbClr val="FFFFFF"/>
              </a:solidFill>
              <a:latin typeface="Times New Roman"/>
            </a:endParaRPr>
          </a:p>
          <a:p>
            <a:pPr>
              <a:lnSpc>
                <a:spcPct val="90000"/>
              </a:lnSpc>
            </a:pPr>
            <a:r>
              <a:rPr lang="en-GB" sz="2000" b="1" dirty="0">
                <a:solidFill>
                  <a:srgbClr val="FFFFFF"/>
                </a:solidFill>
                <a:latin typeface="Times New Roman"/>
              </a:rPr>
              <a:t>Apply Fairness Tech:</a:t>
            </a:r>
            <a:r>
              <a:rPr lang="en-GB" sz="2000" dirty="0">
                <a:solidFill>
                  <a:srgbClr val="FFFFFF"/>
                </a:solidFill>
                <a:latin typeface="Times New Roman"/>
              </a:rPr>
              <a:t> Implement algorithmic techniques and fairness metrics such as demographic parity  during model building to mitigate bias.</a:t>
            </a:r>
          </a:p>
          <a:p>
            <a:pPr>
              <a:lnSpc>
                <a:spcPct val="90000"/>
              </a:lnSpc>
            </a:pPr>
            <a:r>
              <a:rPr lang="en-GB" sz="2000" b="1" dirty="0">
                <a:solidFill>
                  <a:srgbClr val="FFFFFF"/>
                </a:solidFill>
                <a:latin typeface="Times New Roman"/>
              </a:rPr>
              <a:t>Integrate Explainability: </a:t>
            </a:r>
            <a:r>
              <a:rPr lang="en-GB" sz="2000" dirty="0">
                <a:solidFill>
                  <a:srgbClr val="FFFFFF"/>
                </a:solidFill>
                <a:latin typeface="Times New Roman"/>
              </a:rPr>
              <a:t>Use tools like SHAP and LIME to make model decisions understandable.</a:t>
            </a:r>
          </a:p>
          <a:p>
            <a:pPr>
              <a:lnSpc>
                <a:spcPct val="90000"/>
              </a:lnSpc>
            </a:pPr>
            <a:endParaRPr lang="en-GB" sz="2000" dirty="0">
              <a:solidFill>
                <a:srgbClr val="FFFFFF"/>
              </a:solidFill>
              <a:latin typeface="Times New Roman"/>
            </a:endParaRPr>
          </a:p>
          <a:p>
            <a:pPr>
              <a:lnSpc>
                <a:spcPct val="90000"/>
              </a:lnSpc>
            </a:pPr>
            <a:r>
              <a:rPr lang="en-GB" sz="2000" b="1" dirty="0">
                <a:solidFill>
                  <a:srgbClr val="FFFFFF"/>
                </a:solidFill>
                <a:latin typeface="Times New Roman"/>
              </a:rPr>
              <a:t>Build Traceability: </a:t>
            </a:r>
            <a:r>
              <a:rPr lang="en-GB" sz="2000" dirty="0">
                <a:solidFill>
                  <a:srgbClr val="FFFFFF"/>
                </a:solidFill>
                <a:latin typeface="Times New Roman"/>
              </a:rPr>
              <a:t>Design systems to track data and model versions for accountability.</a:t>
            </a:r>
          </a:p>
          <a:p>
            <a:pPr>
              <a:lnSpc>
                <a:spcPct val="90000"/>
              </a:lnSpc>
            </a:pPr>
            <a:endParaRPr lang="en-GB" sz="2000" dirty="0">
              <a:solidFill>
                <a:srgbClr val="FFFFFF"/>
              </a:solidFill>
              <a:latin typeface="Times New Roman"/>
            </a:endParaRPr>
          </a:p>
          <a:p>
            <a:pPr>
              <a:lnSpc>
                <a:spcPct val="90000"/>
              </a:lnSpc>
            </a:pPr>
            <a:r>
              <a:rPr lang="en-GB" sz="2000" b="1" dirty="0">
                <a:solidFill>
                  <a:srgbClr val="FFFFFF"/>
                </a:solidFill>
                <a:latin typeface="Times New Roman"/>
              </a:rPr>
              <a:t>Co-Design &amp; Monitor: </a:t>
            </a:r>
            <a:r>
              <a:rPr lang="en-GB" sz="2000" dirty="0">
                <a:solidFill>
                  <a:srgbClr val="FFFFFF"/>
                </a:solidFill>
                <a:latin typeface="Times New Roman"/>
              </a:rPr>
              <a:t>Engage in co-design with users (like clinicians/patients) and implement continuous fairness monitoring.</a:t>
            </a:r>
          </a:p>
        </p:txBody>
      </p:sp>
    </p:spTree>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 name="Rectangle 91">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erson with a robot&#10;&#10;AI-generated content may be incorrect.">
            <a:extLst>
              <a:ext uri="{FF2B5EF4-FFF2-40B4-BE49-F238E27FC236}">
                <a16:creationId xmlns:a16="http://schemas.microsoft.com/office/drawing/2014/main" id="{4FB5B0C1-E790-C384-305E-918DA1264AE6}"/>
              </a:ext>
            </a:extLst>
          </p:cNvPr>
          <p:cNvPicPr>
            <a:picLocks noChangeAspect="1"/>
          </p:cNvPicPr>
          <p:nvPr/>
        </p:nvPicPr>
        <p:blipFill>
          <a:blip r:embed="rId3">
            <a:alphaModFix amt="35000"/>
          </a:blip>
          <a:srcRect r="-1" b="47124"/>
          <a:stretch>
            <a:fillRect/>
          </a:stretch>
        </p:blipFill>
        <p:spPr>
          <a:xfrm>
            <a:off x="20" y="10"/>
            <a:ext cx="9143980" cy="6857990"/>
          </a:xfrm>
          <a:prstGeom prst="rect">
            <a:avLst/>
          </a:prstGeom>
        </p:spPr>
      </p:pic>
      <p:sp>
        <p:nvSpPr>
          <p:cNvPr id="2" name="Title 1"/>
          <p:cNvSpPr>
            <a:spLocks noGrp="1"/>
          </p:cNvSpPr>
          <p:nvPr>
            <p:ph type="title"/>
          </p:nvPr>
        </p:nvSpPr>
        <p:spPr>
          <a:xfrm>
            <a:off x="171450" y="221690"/>
            <a:ext cx="8640856" cy="1325563"/>
          </a:xfrm>
        </p:spPr>
        <p:txBody>
          <a:bodyPr>
            <a:noAutofit/>
          </a:bodyPr>
          <a:lstStyle/>
          <a:p>
            <a:pPr>
              <a:lnSpc>
                <a:spcPct val="90000"/>
              </a:lnSpc>
            </a:pPr>
            <a:r>
              <a:rPr lang="en-GB" sz="4000" b="1" u="sng" dirty="0">
                <a:solidFill>
                  <a:srgbClr val="FFFFFF"/>
                </a:solidFill>
                <a:latin typeface="Times New Roman" panose="02020603050405020304" pitchFamily="18" charset="0"/>
                <a:cs typeface="Times New Roman" panose="02020603050405020304" pitchFamily="18" charset="0"/>
              </a:rPr>
              <a:t>Applications of AI in Cancer Imaging.</a:t>
            </a:r>
          </a:p>
        </p:txBody>
      </p:sp>
      <p:sp>
        <p:nvSpPr>
          <p:cNvPr id="3" name="Content Placeholder 2"/>
          <p:cNvSpPr>
            <a:spLocks noGrp="1"/>
          </p:cNvSpPr>
          <p:nvPr>
            <p:ph idx="1"/>
          </p:nvPr>
        </p:nvSpPr>
        <p:spPr>
          <a:xfrm>
            <a:off x="171450" y="1120588"/>
            <a:ext cx="8801100" cy="5629835"/>
          </a:xfrm>
        </p:spPr>
        <p:txBody>
          <a:bodyPr>
            <a:normAutofit lnSpcReduction="10000"/>
          </a:bodyPr>
          <a:lstStyle/>
          <a:p>
            <a:pPr marL="0" indent="0" algn="just">
              <a:lnSpc>
                <a:spcPct val="90000"/>
              </a:lnSpc>
              <a:buNone/>
            </a:pPr>
            <a:endParaRPr lang="en-GB" sz="2000" b="1" dirty="0">
              <a:solidFill>
                <a:srgbClr val="FFFFFF"/>
              </a:solidFill>
              <a:latin typeface="Times New Roman" panose="02020603050405020304" pitchFamily="18" charset="0"/>
              <a:cs typeface="Times New Roman" panose="02020603050405020304" pitchFamily="18" charset="0"/>
            </a:endParaRPr>
          </a:p>
          <a:p>
            <a:pPr algn="just">
              <a:lnSpc>
                <a:spcPct val="90000"/>
              </a:lnSpc>
            </a:pPr>
            <a:r>
              <a:rPr lang="en-GB" sz="2000" b="1" dirty="0">
                <a:solidFill>
                  <a:srgbClr val="FFFFFF"/>
                </a:solidFill>
                <a:latin typeface="Times New Roman" panose="02020603050405020304" pitchFamily="18" charset="0"/>
                <a:cs typeface="Times New Roman" panose="02020603050405020304" pitchFamily="18" charset="0"/>
              </a:rPr>
              <a:t>Detection &amp; Diagnosis</a:t>
            </a:r>
            <a:endParaRPr lang="en-GB" sz="2000" dirty="0">
              <a:solidFill>
                <a:srgbClr val="FFFFFF"/>
              </a:solidFill>
              <a:latin typeface="Times New Roman" panose="02020603050405020304" pitchFamily="18" charset="0"/>
              <a:cs typeface="Times New Roman" panose="02020603050405020304" pitchFamily="18" charset="0"/>
            </a:endParaRPr>
          </a:p>
          <a:p>
            <a:pPr lvl="1" algn="just">
              <a:lnSpc>
                <a:spcPct val="90000"/>
              </a:lnSpc>
            </a:pPr>
            <a:r>
              <a:rPr lang="en-GB" sz="2000" dirty="0">
                <a:solidFill>
                  <a:srgbClr val="FFFFFF"/>
                </a:solidFill>
                <a:latin typeface="Times New Roman" panose="02020603050405020304" pitchFamily="18" charset="0"/>
                <a:cs typeface="Times New Roman" panose="02020603050405020304" pitchFamily="18" charset="0"/>
              </a:rPr>
              <a:t>Identifying cancerous lesions or tumours in medical scans (e.g. mammograms, CT, MRI).</a:t>
            </a:r>
          </a:p>
          <a:p>
            <a:pPr lvl="1" algn="just">
              <a:lnSpc>
                <a:spcPct val="90000"/>
              </a:lnSpc>
            </a:pPr>
            <a:r>
              <a:rPr lang="en-GB" sz="2000" dirty="0">
                <a:solidFill>
                  <a:srgbClr val="FFFFFF"/>
                </a:solidFill>
                <a:latin typeface="Times New Roman" panose="02020603050405020304" pitchFamily="18" charset="0"/>
                <a:cs typeface="Times New Roman" panose="02020603050405020304" pitchFamily="18" charset="0"/>
              </a:rPr>
              <a:t>Supporting radiologists in distinguishing between benign and malignant cases.</a:t>
            </a:r>
          </a:p>
          <a:p>
            <a:pPr algn="just">
              <a:lnSpc>
                <a:spcPct val="90000"/>
              </a:lnSpc>
            </a:pPr>
            <a:r>
              <a:rPr lang="en-GB" sz="2000" b="1" dirty="0">
                <a:solidFill>
                  <a:srgbClr val="FFFFFF"/>
                </a:solidFill>
                <a:latin typeface="Times New Roman" panose="02020603050405020304" pitchFamily="18" charset="0"/>
                <a:cs typeface="Times New Roman" panose="02020603050405020304" pitchFamily="18" charset="0"/>
              </a:rPr>
              <a:t>Segmentation</a:t>
            </a:r>
            <a:endParaRPr lang="en-GB" sz="2000" dirty="0">
              <a:solidFill>
                <a:srgbClr val="FFFFFF"/>
              </a:solidFill>
              <a:latin typeface="Times New Roman" panose="02020603050405020304" pitchFamily="18" charset="0"/>
              <a:cs typeface="Times New Roman" panose="02020603050405020304" pitchFamily="18" charset="0"/>
            </a:endParaRPr>
          </a:p>
          <a:p>
            <a:pPr lvl="1" algn="just">
              <a:lnSpc>
                <a:spcPct val="90000"/>
              </a:lnSpc>
            </a:pPr>
            <a:r>
              <a:rPr lang="en-GB" sz="2000" dirty="0">
                <a:solidFill>
                  <a:srgbClr val="FFFFFF"/>
                </a:solidFill>
                <a:latin typeface="Times New Roman" panose="02020603050405020304" pitchFamily="18" charset="0"/>
                <a:cs typeface="Times New Roman" panose="02020603050405020304" pitchFamily="18" charset="0"/>
              </a:rPr>
              <a:t>Precisely outlining tumours and other regions of interest in scans.</a:t>
            </a:r>
          </a:p>
          <a:p>
            <a:pPr lvl="1" algn="just">
              <a:lnSpc>
                <a:spcPct val="90000"/>
              </a:lnSpc>
            </a:pPr>
            <a:r>
              <a:rPr lang="en-GB" sz="2000" dirty="0">
                <a:solidFill>
                  <a:srgbClr val="FFFFFF"/>
                </a:solidFill>
                <a:latin typeface="Times New Roman" panose="02020603050405020304" pitchFamily="18" charset="0"/>
                <a:cs typeface="Times New Roman" panose="02020603050405020304" pitchFamily="18" charset="0"/>
              </a:rPr>
              <a:t>Helps in planning treatment and tracking tumour progression.</a:t>
            </a:r>
          </a:p>
          <a:p>
            <a:pPr algn="just">
              <a:lnSpc>
                <a:spcPct val="90000"/>
              </a:lnSpc>
            </a:pPr>
            <a:r>
              <a:rPr lang="en-GB" sz="2000" b="1" dirty="0">
                <a:solidFill>
                  <a:srgbClr val="FFFFFF"/>
                </a:solidFill>
                <a:latin typeface="Times New Roman" panose="02020603050405020304" pitchFamily="18" charset="0"/>
                <a:cs typeface="Times New Roman" panose="02020603050405020304" pitchFamily="18" charset="0"/>
              </a:rPr>
              <a:t>Classification</a:t>
            </a:r>
            <a:endParaRPr lang="en-GB" sz="2000" dirty="0">
              <a:solidFill>
                <a:srgbClr val="FFFFFF"/>
              </a:solidFill>
              <a:latin typeface="Times New Roman" panose="02020603050405020304" pitchFamily="18" charset="0"/>
              <a:cs typeface="Times New Roman" panose="02020603050405020304" pitchFamily="18" charset="0"/>
            </a:endParaRPr>
          </a:p>
          <a:p>
            <a:pPr lvl="1" algn="just">
              <a:lnSpc>
                <a:spcPct val="90000"/>
              </a:lnSpc>
            </a:pPr>
            <a:r>
              <a:rPr lang="en-GB" sz="2000" dirty="0">
                <a:solidFill>
                  <a:srgbClr val="FFFFFF"/>
                </a:solidFill>
                <a:latin typeface="Times New Roman" panose="02020603050405020304" pitchFamily="18" charset="0"/>
                <a:cs typeface="Times New Roman" panose="02020603050405020304" pitchFamily="18" charset="0"/>
              </a:rPr>
              <a:t>Categorising tumour types, stages, or aggressiveness based on imaging features.</a:t>
            </a:r>
          </a:p>
          <a:p>
            <a:pPr lvl="1" algn="just">
              <a:lnSpc>
                <a:spcPct val="90000"/>
              </a:lnSpc>
            </a:pPr>
            <a:r>
              <a:rPr lang="en-GB" sz="2000" dirty="0">
                <a:solidFill>
                  <a:srgbClr val="FFFFFF"/>
                </a:solidFill>
                <a:latin typeface="Times New Roman" panose="02020603050405020304" pitchFamily="18" charset="0"/>
                <a:cs typeface="Times New Roman" panose="02020603050405020304" pitchFamily="18" charset="0"/>
              </a:rPr>
              <a:t>Assists in tailoring personalised treatment plans.</a:t>
            </a:r>
          </a:p>
          <a:p>
            <a:pPr algn="just">
              <a:lnSpc>
                <a:spcPct val="90000"/>
              </a:lnSpc>
            </a:pPr>
            <a:r>
              <a:rPr lang="en-GB" sz="2000" b="1" dirty="0">
                <a:solidFill>
                  <a:srgbClr val="FFFFFF"/>
                </a:solidFill>
                <a:latin typeface="Times New Roman" panose="02020603050405020304" pitchFamily="18" charset="0"/>
                <a:cs typeface="Times New Roman" panose="02020603050405020304" pitchFamily="18" charset="0"/>
              </a:rPr>
              <a:t>Prognosis Prediction</a:t>
            </a:r>
            <a:endParaRPr lang="en-GB" sz="2000" dirty="0">
              <a:solidFill>
                <a:srgbClr val="FFFFFF"/>
              </a:solidFill>
              <a:latin typeface="Times New Roman" panose="02020603050405020304" pitchFamily="18" charset="0"/>
              <a:cs typeface="Times New Roman" panose="02020603050405020304" pitchFamily="18" charset="0"/>
            </a:endParaRPr>
          </a:p>
          <a:p>
            <a:pPr lvl="1" algn="just">
              <a:lnSpc>
                <a:spcPct val="90000"/>
              </a:lnSpc>
            </a:pPr>
            <a:r>
              <a:rPr lang="en-GB" sz="2000" dirty="0">
                <a:solidFill>
                  <a:srgbClr val="FFFFFF"/>
                </a:solidFill>
                <a:latin typeface="Times New Roman" panose="02020603050405020304" pitchFamily="18" charset="0"/>
                <a:cs typeface="Times New Roman" panose="02020603050405020304" pitchFamily="18" charset="0"/>
              </a:rPr>
              <a:t>Analysing imaging patterns to estimate disease progression and survival outcomes.</a:t>
            </a:r>
          </a:p>
          <a:p>
            <a:pPr algn="just">
              <a:lnSpc>
                <a:spcPct val="90000"/>
              </a:lnSpc>
            </a:pPr>
            <a:r>
              <a:rPr lang="en-GB" sz="2000" b="1" dirty="0">
                <a:solidFill>
                  <a:srgbClr val="FFFFFF"/>
                </a:solidFill>
                <a:latin typeface="Times New Roman" panose="02020603050405020304" pitchFamily="18" charset="0"/>
                <a:cs typeface="Times New Roman" panose="02020603050405020304" pitchFamily="18" charset="0"/>
              </a:rPr>
              <a:t>Treatment Response Monitoring</a:t>
            </a:r>
            <a:endParaRPr lang="en-GB" sz="2000" dirty="0">
              <a:solidFill>
                <a:srgbClr val="FFFFFF"/>
              </a:solidFill>
              <a:latin typeface="Times New Roman" panose="02020603050405020304" pitchFamily="18" charset="0"/>
              <a:cs typeface="Times New Roman" panose="02020603050405020304" pitchFamily="18" charset="0"/>
            </a:endParaRPr>
          </a:p>
          <a:p>
            <a:pPr lvl="1" algn="just">
              <a:lnSpc>
                <a:spcPct val="90000"/>
              </a:lnSpc>
            </a:pPr>
            <a:r>
              <a:rPr lang="en-GB" sz="2000" dirty="0">
                <a:solidFill>
                  <a:srgbClr val="FFFFFF"/>
                </a:solidFill>
                <a:latin typeface="Times New Roman" panose="02020603050405020304" pitchFamily="18" charset="0"/>
                <a:cs typeface="Times New Roman" panose="02020603050405020304" pitchFamily="18" charset="0"/>
              </a:rPr>
              <a:t>Comparing imaging data over time to assess how well a patient is responding to therapy.</a:t>
            </a:r>
          </a:p>
          <a:p>
            <a:pPr algn="just">
              <a:lnSpc>
                <a:spcPct val="90000"/>
              </a:lnSpc>
            </a:pPr>
            <a:endParaRPr lang="en-GB" sz="2000" dirty="0">
              <a:solidFill>
                <a:srgbClr val="FFFFFF"/>
              </a:solidFill>
              <a:latin typeface="Times New Roman" panose="02020603050405020304" pitchFamily="18" charset="0"/>
              <a:cs typeface="Times New Roman" panose="02020603050405020304" pitchFamily="18" charset="0"/>
            </a:endParaRPr>
          </a:p>
        </p:txBody>
      </p:sp>
    </p:spTree>
  </p:cSld>
  <p:clrMapOvr>
    <a:overrideClrMapping bg1="dk1" tx1="lt1" bg2="dk2" tx2="lt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group of smiley faces drawn on paper&#10;&#10;AI-generated content may be incorrect.">
            <a:extLst>
              <a:ext uri="{FF2B5EF4-FFF2-40B4-BE49-F238E27FC236}">
                <a16:creationId xmlns:a16="http://schemas.microsoft.com/office/drawing/2014/main" id="{A61519D4-3816-2271-5CF2-84D2BE48B9B4}"/>
              </a:ext>
            </a:extLst>
          </p:cNvPr>
          <p:cNvPicPr>
            <a:picLocks noChangeAspect="1"/>
          </p:cNvPicPr>
          <p:nvPr/>
        </p:nvPicPr>
        <p:blipFill>
          <a:blip r:embed="rId2">
            <a:alphaModFix amt="35000"/>
          </a:blip>
          <a:srcRect t="24576" r="1" b="19924"/>
          <a:stretch>
            <a:fillRect/>
          </a:stretch>
        </p:blipFill>
        <p:spPr>
          <a:xfrm>
            <a:off x="20" y="10"/>
            <a:ext cx="9143980" cy="6857990"/>
          </a:xfrm>
          <a:prstGeom prst="rect">
            <a:avLst/>
          </a:prstGeom>
        </p:spPr>
      </p:pic>
      <p:sp>
        <p:nvSpPr>
          <p:cNvPr id="2" name="Title 1">
            <a:extLst>
              <a:ext uri="{FF2B5EF4-FFF2-40B4-BE49-F238E27FC236}">
                <a16:creationId xmlns:a16="http://schemas.microsoft.com/office/drawing/2014/main" id="{12E6A5E9-0EBD-135E-D73B-86E355342154}"/>
              </a:ext>
            </a:extLst>
          </p:cNvPr>
          <p:cNvSpPr>
            <a:spLocks noGrp="1"/>
          </p:cNvSpPr>
          <p:nvPr>
            <p:ph type="title"/>
          </p:nvPr>
        </p:nvSpPr>
        <p:spPr>
          <a:xfrm>
            <a:off x="628650" y="616137"/>
            <a:ext cx="7886700" cy="1325563"/>
          </a:xfrm>
        </p:spPr>
        <p:txBody>
          <a:bodyPr>
            <a:normAutofit/>
          </a:bodyPr>
          <a:lstStyle/>
          <a:p>
            <a:pPr>
              <a:lnSpc>
                <a:spcPct val="90000"/>
              </a:lnSpc>
            </a:pPr>
            <a:r>
              <a:rPr lang="en-GB" sz="3600" b="1" u="sng" dirty="0">
                <a:solidFill>
                  <a:srgbClr val="FFFFFF"/>
                </a:solidFill>
                <a:latin typeface="Times New Roman" panose="02020603050405020304" pitchFamily="18" charset="0"/>
                <a:cs typeface="Times New Roman" panose="02020603050405020304" pitchFamily="18" charset="0"/>
              </a:rPr>
              <a:t>Benefits of Using AI in Cancer Imaging</a:t>
            </a:r>
          </a:p>
        </p:txBody>
      </p:sp>
      <p:sp>
        <p:nvSpPr>
          <p:cNvPr id="3" name="Content Placeholder 2">
            <a:extLst>
              <a:ext uri="{FF2B5EF4-FFF2-40B4-BE49-F238E27FC236}">
                <a16:creationId xmlns:a16="http://schemas.microsoft.com/office/drawing/2014/main" id="{65EE63D3-A648-5E97-50DE-0564E904EB13}"/>
              </a:ext>
            </a:extLst>
          </p:cNvPr>
          <p:cNvSpPr>
            <a:spLocks noGrp="1"/>
          </p:cNvSpPr>
          <p:nvPr>
            <p:ph idx="1"/>
          </p:nvPr>
        </p:nvSpPr>
        <p:spPr>
          <a:xfrm>
            <a:off x="286871" y="1690688"/>
            <a:ext cx="8641975" cy="4679857"/>
          </a:xfrm>
        </p:spPr>
        <p:txBody>
          <a:bodyPr>
            <a:normAutofit/>
          </a:bodyPr>
          <a:lstStyle/>
          <a:p>
            <a:pPr>
              <a:lnSpc>
                <a:spcPct val="90000"/>
              </a:lnSpc>
              <a:buFont typeface="Arial" panose="020B0604020202020204" pitchFamily="34" charset="0"/>
              <a:buChar char="•"/>
            </a:pPr>
            <a:r>
              <a:rPr lang="en-GB" sz="2500" b="1" dirty="0">
                <a:solidFill>
                  <a:srgbClr val="FFFFFF"/>
                </a:solidFill>
                <a:latin typeface="Times New Roman" panose="02020603050405020304" pitchFamily="18" charset="0"/>
                <a:cs typeface="Times New Roman" panose="02020603050405020304" pitchFamily="18" charset="0"/>
              </a:rPr>
              <a:t>Early Detection: </a:t>
            </a:r>
            <a:r>
              <a:rPr lang="en-GB" sz="2500" dirty="0">
                <a:solidFill>
                  <a:srgbClr val="FFFFFF"/>
                </a:solidFill>
                <a:latin typeface="Times New Roman" panose="02020603050405020304" pitchFamily="18" charset="0"/>
                <a:cs typeface="Times New Roman" panose="02020603050405020304" pitchFamily="18" charset="0"/>
              </a:rPr>
              <a:t>AI can identify patterns not visible to the human eye, improving early diagnosis.</a:t>
            </a:r>
          </a:p>
          <a:p>
            <a:pPr>
              <a:lnSpc>
                <a:spcPct val="90000"/>
              </a:lnSpc>
              <a:buFont typeface="Arial" panose="020B0604020202020204" pitchFamily="34" charset="0"/>
              <a:buChar char="•"/>
            </a:pPr>
            <a:r>
              <a:rPr lang="en-GB" sz="2500" b="1" dirty="0">
                <a:solidFill>
                  <a:srgbClr val="FFFFFF"/>
                </a:solidFill>
                <a:latin typeface="Times New Roman" panose="02020603050405020304" pitchFamily="18" charset="0"/>
                <a:cs typeface="Times New Roman" panose="02020603050405020304" pitchFamily="18" charset="0"/>
              </a:rPr>
              <a:t>Improved Accuracy: </a:t>
            </a:r>
            <a:r>
              <a:rPr lang="en-GB" sz="2500" dirty="0">
                <a:solidFill>
                  <a:srgbClr val="FFFFFF"/>
                </a:solidFill>
                <a:latin typeface="Times New Roman" panose="02020603050405020304" pitchFamily="18" charset="0"/>
                <a:cs typeface="Times New Roman" panose="02020603050405020304" pitchFamily="18" charset="0"/>
              </a:rPr>
              <a:t>Reduces errors and increases diagnostic confidence.</a:t>
            </a:r>
          </a:p>
          <a:p>
            <a:pPr>
              <a:lnSpc>
                <a:spcPct val="90000"/>
              </a:lnSpc>
              <a:buFont typeface="Arial" panose="020B0604020202020204" pitchFamily="34" charset="0"/>
              <a:buChar char="•"/>
            </a:pPr>
            <a:r>
              <a:rPr lang="en-GB" sz="2500" b="1" dirty="0">
                <a:solidFill>
                  <a:srgbClr val="FFFFFF"/>
                </a:solidFill>
                <a:latin typeface="Times New Roman" panose="02020603050405020304" pitchFamily="18" charset="0"/>
                <a:cs typeface="Times New Roman" panose="02020603050405020304" pitchFamily="18" charset="0"/>
              </a:rPr>
              <a:t>Efficiency: </a:t>
            </a:r>
            <a:r>
              <a:rPr lang="en-GB" sz="2500" dirty="0">
                <a:solidFill>
                  <a:srgbClr val="FFFFFF"/>
                </a:solidFill>
                <a:latin typeface="Times New Roman" panose="02020603050405020304" pitchFamily="18" charset="0"/>
                <a:cs typeface="Times New Roman" panose="02020603050405020304" pitchFamily="18" charset="0"/>
              </a:rPr>
              <a:t>Speeds up image analysis, reducing radiologist workload.</a:t>
            </a:r>
          </a:p>
          <a:p>
            <a:pPr algn="just">
              <a:lnSpc>
                <a:spcPct val="90000"/>
              </a:lnSpc>
              <a:buFont typeface="Arial" panose="020B0604020202020204" pitchFamily="34" charset="0"/>
              <a:buChar char="•"/>
            </a:pPr>
            <a:r>
              <a:rPr lang="en-GB" sz="2500" b="1" dirty="0">
                <a:solidFill>
                  <a:srgbClr val="FFFFFF"/>
                </a:solidFill>
                <a:latin typeface="Times New Roman" panose="02020603050405020304" pitchFamily="18" charset="0"/>
                <a:cs typeface="Times New Roman" panose="02020603050405020304" pitchFamily="18" charset="0"/>
              </a:rPr>
              <a:t>Consistency: </a:t>
            </a:r>
            <a:r>
              <a:rPr lang="en-GB" sz="2500" dirty="0">
                <a:solidFill>
                  <a:srgbClr val="FFFFFF"/>
                </a:solidFill>
                <a:latin typeface="Times New Roman" panose="02020603050405020304" pitchFamily="18" charset="0"/>
                <a:cs typeface="Times New Roman" panose="02020603050405020304" pitchFamily="18" charset="0"/>
              </a:rPr>
              <a:t>Delivers more standardised interpretations across different patients and clinicians.</a:t>
            </a:r>
          </a:p>
          <a:p>
            <a:pPr>
              <a:lnSpc>
                <a:spcPct val="90000"/>
              </a:lnSpc>
              <a:buFont typeface="Arial" panose="020B0604020202020204" pitchFamily="34" charset="0"/>
              <a:buChar char="•"/>
            </a:pPr>
            <a:r>
              <a:rPr lang="en-GB" sz="2500" b="1" dirty="0">
                <a:solidFill>
                  <a:srgbClr val="FFFFFF"/>
                </a:solidFill>
                <a:latin typeface="Times New Roman" panose="02020603050405020304" pitchFamily="18" charset="0"/>
                <a:cs typeface="Times New Roman" panose="02020603050405020304" pitchFamily="18" charset="0"/>
              </a:rPr>
              <a:t>Support for Personalised Care: </a:t>
            </a:r>
            <a:r>
              <a:rPr lang="en-GB" sz="2500" dirty="0">
                <a:solidFill>
                  <a:srgbClr val="FFFFFF"/>
                </a:solidFill>
                <a:latin typeface="Times New Roman" panose="02020603050405020304" pitchFamily="18" charset="0"/>
                <a:cs typeface="Times New Roman" panose="02020603050405020304" pitchFamily="18" charset="0"/>
              </a:rPr>
              <a:t>Helps tailor treatment based on tumour type and response prediction.</a:t>
            </a:r>
          </a:p>
          <a:p>
            <a:pPr marL="0" indent="0">
              <a:lnSpc>
                <a:spcPct val="90000"/>
              </a:lnSpc>
              <a:buNone/>
            </a:pPr>
            <a:endParaRPr lang="en-GB" sz="2500" b="1"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834765"/>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diagram of a human body&#10;&#10;AI-generated content may be incorrect.">
            <a:extLst>
              <a:ext uri="{FF2B5EF4-FFF2-40B4-BE49-F238E27FC236}">
                <a16:creationId xmlns:a16="http://schemas.microsoft.com/office/drawing/2014/main" id="{0D7BA264-08CA-88A7-727B-3E405ACA341A}"/>
              </a:ext>
            </a:extLst>
          </p:cNvPr>
          <p:cNvPicPr>
            <a:picLocks noChangeAspect="1"/>
          </p:cNvPicPr>
          <p:nvPr/>
        </p:nvPicPr>
        <p:blipFill>
          <a:blip r:embed="rId3">
            <a:alphaModFix amt="35000"/>
          </a:blip>
          <a:srcRect/>
          <a:stretch>
            <a:fillRect/>
          </a:stretch>
        </p:blipFill>
        <p:spPr>
          <a:xfrm>
            <a:off x="20" y="10"/>
            <a:ext cx="9143980" cy="6857990"/>
          </a:xfrm>
          <a:prstGeom prst="rect">
            <a:avLst/>
          </a:prstGeom>
        </p:spPr>
      </p:pic>
      <p:sp>
        <p:nvSpPr>
          <p:cNvPr id="2" name="Title 1">
            <a:extLst>
              <a:ext uri="{FF2B5EF4-FFF2-40B4-BE49-F238E27FC236}">
                <a16:creationId xmlns:a16="http://schemas.microsoft.com/office/drawing/2014/main" id="{BF2F57F9-D2EE-171C-E966-A456D88F9757}"/>
              </a:ext>
            </a:extLst>
          </p:cNvPr>
          <p:cNvSpPr>
            <a:spLocks noGrp="1"/>
          </p:cNvSpPr>
          <p:nvPr>
            <p:ph type="title"/>
          </p:nvPr>
        </p:nvSpPr>
        <p:spPr>
          <a:xfrm>
            <a:off x="619684" y="344770"/>
            <a:ext cx="7886700" cy="997510"/>
          </a:xfrm>
        </p:spPr>
        <p:txBody>
          <a:bodyPr>
            <a:normAutofit/>
          </a:bodyPr>
          <a:lstStyle/>
          <a:p>
            <a:pPr>
              <a:lnSpc>
                <a:spcPct val="90000"/>
              </a:lnSpc>
            </a:pPr>
            <a:r>
              <a:rPr lang="en-GB" sz="3200" b="1" u="sng" dirty="0">
                <a:solidFill>
                  <a:srgbClr val="FFFFFF"/>
                </a:solidFill>
                <a:latin typeface="Times New Roman" panose="02020603050405020304" pitchFamily="18" charset="0"/>
                <a:cs typeface="Times New Roman" panose="02020603050405020304" pitchFamily="18" charset="0"/>
              </a:rPr>
              <a:t>Challenges of Using AI in Cancer Imaging</a:t>
            </a:r>
          </a:p>
        </p:txBody>
      </p:sp>
      <p:sp>
        <p:nvSpPr>
          <p:cNvPr id="3" name="Content Placeholder 2">
            <a:extLst>
              <a:ext uri="{FF2B5EF4-FFF2-40B4-BE49-F238E27FC236}">
                <a16:creationId xmlns:a16="http://schemas.microsoft.com/office/drawing/2014/main" id="{6D0C2DDB-78D3-DB53-9582-057820118C03}"/>
              </a:ext>
            </a:extLst>
          </p:cNvPr>
          <p:cNvSpPr>
            <a:spLocks noGrp="1"/>
          </p:cNvSpPr>
          <p:nvPr>
            <p:ph idx="1"/>
          </p:nvPr>
        </p:nvSpPr>
        <p:spPr>
          <a:xfrm>
            <a:off x="295835" y="1362636"/>
            <a:ext cx="8534399" cy="5130238"/>
          </a:xfrm>
        </p:spPr>
        <p:txBody>
          <a:bodyPr>
            <a:normAutofit lnSpcReduction="10000"/>
          </a:bodyPr>
          <a:lstStyle/>
          <a:p>
            <a:pPr algn="just">
              <a:lnSpc>
                <a:spcPct val="90000"/>
              </a:lnSpc>
            </a:pPr>
            <a:r>
              <a:rPr lang="en-GB" sz="2500" b="1" dirty="0">
                <a:solidFill>
                  <a:srgbClr val="FFFFFF"/>
                </a:solidFill>
                <a:latin typeface="Times New Roman" panose="02020603050405020304" pitchFamily="18" charset="0"/>
                <a:cs typeface="Times New Roman" panose="02020603050405020304" pitchFamily="18" charset="0"/>
              </a:rPr>
              <a:t>Bias in Training Data</a:t>
            </a:r>
            <a:r>
              <a:rPr lang="en-GB" sz="2500" dirty="0">
                <a:solidFill>
                  <a:srgbClr val="FFFFFF"/>
                </a:solidFill>
                <a:latin typeface="Times New Roman" panose="02020603050405020304" pitchFamily="18" charset="0"/>
                <a:cs typeface="Times New Roman" panose="02020603050405020304" pitchFamily="18" charset="0"/>
              </a:rPr>
              <a:t>: AI may underperform in underrepresented groups, leading to unequal care.</a:t>
            </a:r>
          </a:p>
          <a:p>
            <a:pPr algn="just">
              <a:lnSpc>
                <a:spcPct val="90000"/>
              </a:lnSpc>
            </a:pPr>
            <a:endParaRPr lang="en-GB" sz="2500" dirty="0">
              <a:solidFill>
                <a:srgbClr val="FFFFFF"/>
              </a:solidFill>
              <a:latin typeface="Times New Roman" panose="02020603050405020304" pitchFamily="18" charset="0"/>
              <a:cs typeface="Times New Roman" panose="02020603050405020304" pitchFamily="18" charset="0"/>
            </a:endParaRPr>
          </a:p>
          <a:p>
            <a:pPr algn="just">
              <a:lnSpc>
                <a:spcPct val="90000"/>
              </a:lnSpc>
            </a:pPr>
            <a:r>
              <a:rPr lang="en-GB" sz="2500" b="1" dirty="0">
                <a:solidFill>
                  <a:srgbClr val="FFFFFF"/>
                </a:solidFill>
                <a:latin typeface="Times New Roman" panose="02020603050405020304" pitchFamily="18" charset="0"/>
                <a:cs typeface="Times New Roman" panose="02020603050405020304" pitchFamily="18" charset="0"/>
              </a:rPr>
              <a:t>Lack of Transparency:</a:t>
            </a:r>
            <a:r>
              <a:rPr lang="en-GB" sz="2500" dirty="0">
                <a:solidFill>
                  <a:srgbClr val="FFFFFF"/>
                </a:solidFill>
                <a:latin typeface="Times New Roman" panose="02020603050405020304" pitchFamily="18" charset="0"/>
                <a:cs typeface="Times New Roman" panose="02020603050405020304" pitchFamily="18" charset="0"/>
              </a:rPr>
              <a:t> Complex models like CNNs are often “black boxes,” hard to interpret.</a:t>
            </a:r>
          </a:p>
          <a:p>
            <a:pPr algn="just">
              <a:lnSpc>
                <a:spcPct val="90000"/>
              </a:lnSpc>
            </a:pPr>
            <a:endParaRPr lang="en-GB" sz="2500" dirty="0">
              <a:solidFill>
                <a:srgbClr val="FFFFFF"/>
              </a:solidFill>
              <a:latin typeface="Times New Roman" panose="02020603050405020304" pitchFamily="18" charset="0"/>
              <a:cs typeface="Times New Roman" panose="02020603050405020304" pitchFamily="18" charset="0"/>
            </a:endParaRPr>
          </a:p>
          <a:p>
            <a:pPr algn="just">
              <a:lnSpc>
                <a:spcPct val="90000"/>
              </a:lnSpc>
            </a:pPr>
            <a:r>
              <a:rPr lang="en-GB" sz="2500" b="1" dirty="0">
                <a:solidFill>
                  <a:srgbClr val="FFFFFF"/>
                </a:solidFill>
                <a:latin typeface="Times New Roman" panose="02020603050405020304" pitchFamily="18" charset="0"/>
                <a:cs typeface="Times New Roman" panose="02020603050405020304" pitchFamily="18" charset="0"/>
              </a:rPr>
              <a:t>Overfitting Risks:</a:t>
            </a:r>
            <a:r>
              <a:rPr lang="en-GB" sz="2500" dirty="0">
                <a:solidFill>
                  <a:srgbClr val="FFFFFF"/>
                </a:solidFill>
                <a:latin typeface="Times New Roman" panose="02020603050405020304" pitchFamily="18" charset="0"/>
                <a:cs typeface="Times New Roman" panose="02020603050405020304" pitchFamily="18" charset="0"/>
              </a:rPr>
              <a:t> Models might perform well on training data but poorly in real-world settings.</a:t>
            </a:r>
          </a:p>
          <a:p>
            <a:pPr algn="just">
              <a:lnSpc>
                <a:spcPct val="90000"/>
              </a:lnSpc>
            </a:pPr>
            <a:endParaRPr lang="en-GB" sz="2500" dirty="0">
              <a:solidFill>
                <a:srgbClr val="FFFFFF"/>
              </a:solidFill>
              <a:latin typeface="Times New Roman" panose="02020603050405020304" pitchFamily="18" charset="0"/>
              <a:cs typeface="Times New Roman" panose="02020603050405020304" pitchFamily="18" charset="0"/>
            </a:endParaRPr>
          </a:p>
          <a:p>
            <a:pPr algn="just">
              <a:lnSpc>
                <a:spcPct val="90000"/>
              </a:lnSpc>
            </a:pPr>
            <a:r>
              <a:rPr lang="en-GB" sz="2500" b="1" dirty="0">
                <a:solidFill>
                  <a:srgbClr val="FFFFFF"/>
                </a:solidFill>
                <a:latin typeface="Times New Roman" panose="02020603050405020304" pitchFamily="18" charset="0"/>
                <a:cs typeface="Times New Roman" panose="02020603050405020304" pitchFamily="18" charset="0"/>
              </a:rPr>
              <a:t>Regulatory and Ethical Concerns</a:t>
            </a:r>
            <a:r>
              <a:rPr lang="en-GB" sz="2500" dirty="0">
                <a:solidFill>
                  <a:srgbClr val="FFFFFF"/>
                </a:solidFill>
                <a:latin typeface="Times New Roman" panose="02020603050405020304" pitchFamily="18" charset="0"/>
                <a:cs typeface="Times New Roman" panose="02020603050405020304" pitchFamily="18" charset="0"/>
              </a:rPr>
              <a:t>: Ensuring AI is safe, fair, and legally compliant remains an ongoing challenge.</a:t>
            </a:r>
          </a:p>
          <a:p>
            <a:pPr algn="just">
              <a:lnSpc>
                <a:spcPct val="90000"/>
              </a:lnSpc>
            </a:pPr>
            <a:endParaRPr lang="en-GB" sz="2500" dirty="0">
              <a:solidFill>
                <a:srgbClr val="FFFFFF"/>
              </a:solidFill>
              <a:latin typeface="Times New Roman" panose="02020603050405020304" pitchFamily="18" charset="0"/>
              <a:cs typeface="Times New Roman" panose="02020603050405020304" pitchFamily="18" charset="0"/>
            </a:endParaRPr>
          </a:p>
          <a:p>
            <a:pPr algn="just">
              <a:lnSpc>
                <a:spcPct val="90000"/>
              </a:lnSpc>
            </a:pPr>
            <a:r>
              <a:rPr lang="en-GB" sz="2500" b="1" dirty="0">
                <a:solidFill>
                  <a:srgbClr val="FFFFFF"/>
                </a:solidFill>
                <a:latin typeface="Times New Roman" panose="02020603050405020304" pitchFamily="18" charset="0"/>
                <a:cs typeface="Times New Roman" panose="02020603050405020304" pitchFamily="18" charset="0"/>
              </a:rPr>
              <a:t>Dependence on Data Quality</a:t>
            </a:r>
            <a:r>
              <a:rPr lang="en-GB" sz="2500" dirty="0">
                <a:solidFill>
                  <a:srgbClr val="FFFFFF"/>
                </a:solidFill>
                <a:latin typeface="Times New Roman" panose="02020603050405020304" pitchFamily="18" charset="0"/>
                <a:cs typeface="Times New Roman" panose="02020603050405020304" pitchFamily="18" charset="0"/>
              </a:rPr>
              <a:t>: Poor-quality or inconsistent imaging data can reduce model effectiveness.</a:t>
            </a:r>
          </a:p>
        </p:txBody>
      </p:sp>
    </p:spTree>
    <p:extLst>
      <p:ext uri="{BB962C8B-B14F-4D97-AF65-F5344CB8AC3E}">
        <p14:creationId xmlns:p14="http://schemas.microsoft.com/office/powerpoint/2010/main" val="2587987296"/>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sketch of a building&#10;&#10;AI-generated content may be incorrect.">
            <a:extLst>
              <a:ext uri="{FF2B5EF4-FFF2-40B4-BE49-F238E27FC236}">
                <a16:creationId xmlns:a16="http://schemas.microsoft.com/office/drawing/2014/main" id="{4A3441EC-C8FA-F767-A978-CE9105BEE77C}"/>
              </a:ext>
            </a:extLst>
          </p:cNvPr>
          <p:cNvPicPr>
            <a:picLocks noChangeAspect="1"/>
          </p:cNvPicPr>
          <p:nvPr/>
        </p:nvPicPr>
        <p:blipFill>
          <a:blip r:embed="rId2">
            <a:alphaModFix amt="50000"/>
          </a:blip>
          <a:srcRect b="25000"/>
          <a:stretch>
            <a:fillRect/>
          </a:stretch>
        </p:blipFill>
        <p:spPr>
          <a:xfrm>
            <a:off x="20" y="1"/>
            <a:ext cx="9143980" cy="6857999"/>
          </a:xfrm>
          <a:prstGeom prst="rect">
            <a:avLst/>
          </a:prstGeom>
        </p:spPr>
      </p:pic>
      <p:sp>
        <p:nvSpPr>
          <p:cNvPr id="2" name="Title 1">
            <a:extLst>
              <a:ext uri="{FF2B5EF4-FFF2-40B4-BE49-F238E27FC236}">
                <a16:creationId xmlns:a16="http://schemas.microsoft.com/office/drawing/2014/main" id="{AE8CEACF-562D-6545-B972-3015F0FC3CB1}"/>
              </a:ext>
            </a:extLst>
          </p:cNvPr>
          <p:cNvSpPr>
            <a:spLocks noGrp="1"/>
          </p:cNvSpPr>
          <p:nvPr>
            <p:ph type="title"/>
          </p:nvPr>
        </p:nvSpPr>
        <p:spPr>
          <a:xfrm>
            <a:off x="842683" y="2088775"/>
            <a:ext cx="8005482" cy="3307977"/>
          </a:xfrm>
        </p:spPr>
        <p:txBody>
          <a:bodyPr vert="horz" lIns="91440" tIns="45720" rIns="91440" bIns="45720" rtlCol="0" anchor="b">
            <a:normAutofit/>
          </a:bodyPr>
          <a:lstStyle/>
          <a:p>
            <a:pPr defTabSz="914400">
              <a:lnSpc>
                <a:spcPct val="90000"/>
              </a:lnSpc>
            </a:pPr>
            <a:r>
              <a:rPr lang="en-US" sz="5600" b="1" dirty="0">
                <a:solidFill>
                  <a:srgbClr val="FFFFFF"/>
                </a:solidFill>
                <a:latin typeface="Times New Roman" panose="02020603050405020304" pitchFamily="18" charset="0"/>
                <a:cs typeface="Times New Roman" panose="02020603050405020304" pitchFamily="18" charset="0"/>
              </a:rPr>
              <a:t>Conceptual Framework of a Fair and Transparent AI Cancer Imaging Model</a:t>
            </a:r>
          </a:p>
        </p:txBody>
      </p:sp>
    </p:spTree>
    <p:extLst>
      <p:ext uri="{BB962C8B-B14F-4D97-AF65-F5344CB8AC3E}">
        <p14:creationId xmlns:p14="http://schemas.microsoft.com/office/powerpoint/2010/main" val="226096648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number on a white background&#10;&#10;AI-generated content may be incorrect.">
            <a:extLst>
              <a:ext uri="{FF2B5EF4-FFF2-40B4-BE49-F238E27FC236}">
                <a16:creationId xmlns:a16="http://schemas.microsoft.com/office/drawing/2014/main" id="{AAFC525B-AAFB-B45B-2BA5-D677CD9FCD0C}"/>
              </a:ext>
            </a:extLst>
          </p:cNvPr>
          <p:cNvPicPr>
            <a:picLocks noChangeAspect="1"/>
          </p:cNvPicPr>
          <p:nvPr/>
        </p:nvPicPr>
        <p:blipFill>
          <a:blip r:embed="rId3">
            <a:alphaModFix amt="35000"/>
          </a:blip>
          <a:srcRect t="19487" b="30450"/>
          <a:stretch>
            <a:fillRect/>
          </a:stretch>
        </p:blipFill>
        <p:spPr>
          <a:xfrm>
            <a:off x="20" y="10"/>
            <a:ext cx="9143980" cy="6857990"/>
          </a:xfrm>
          <a:prstGeom prst="rect">
            <a:avLst/>
          </a:prstGeom>
        </p:spPr>
      </p:pic>
      <p:sp>
        <p:nvSpPr>
          <p:cNvPr id="2" name="Title 1">
            <a:extLst>
              <a:ext uri="{FF2B5EF4-FFF2-40B4-BE49-F238E27FC236}">
                <a16:creationId xmlns:a16="http://schemas.microsoft.com/office/drawing/2014/main" id="{A068FDB3-705E-0E0C-A81D-9D4BB094745B}"/>
              </a:ext>
            </a:extLst>
          </p:cNvPr>
          <p:cNvSpPr>
            <a:spLocks noGrp="1"/>
          </p:cNvSpPr>
          <p:nvPr>
            <p:ph type="title"/>
          </p:nvPr>
        </p:nvSpPr>
        <p:spPr>
          <a:xfrm>
            <a:off x="686457" y="121689"/>
            <a:ext cx="7886700" cy="1325563"/>
          </a:xfrm>
        </p:spPr>
        <p:txBody>
          <a:bodyPr>
            <a:normAutofit/>
          </a:bodyPr>
          <a:lstStyle/>
          <a:p>
            <a:r>
              <a:rPr lang="en-GB" b="1" u="sng" dirty="0">
                <a:solidFill>
                  <a:srgbClr val="FFFFFF"/>
                </a:solidFill>
                <a:latin typeface="Times New Roman" panose="02020603050405020304" pitchFamily="18" charset="0"/>
                <a:cs typeface="Times New Roman" panose="02020603050405020304" pitchFamily="18" charset="0"/>
              </a:rPr>
              <a:t>1. Input Stage – Data Collection</a:t>
            </a:r>
            <a:endParaRPr lang="en-GB" u="sng" dirty="0">
              <a:solidFill>
                <a:srgbClr val="FFFFFF"/>
              </a:solidFill>
            </a:endParaRPr>
          </a:p>
        </p:txBody>
      </p:sp>
      <p:sp>
        <p:nvSpPr>
          <p:cNvPr id="3" name="Content Placeholder 2"/>
          <p:cNvSpPr>
            <a:spLocks noGrp="1"/>
          </p:cNvSpPr>
          <p:nvPr>
            <p:ph idx="1"/>
          </p:nvPr>
        </p:nvSpPr>
        <p:spPr>
          <a:xfrm>
            <a:off x="388883" y="933777"/>
            <a:ext cx="8481848" cy="2157796"/>
          </a:xfrm>
        </p:spPr>
        <p:txBody>
          <a:bodyPr>
            <a:noAutofit/>
          </a:bodyPr>
          <a:lstStyle/>
          <a:p>
            <a:pPr marL="0" indent="0" algn="just">
              <a:lnSpc>
                <a:spcPct val="90000"/>
              </a:lnSpc>
              <a:buNone/>
            </a:pPr>
            <a:endParaRPr lang="en-GB" sz="2400" b="1" dirty="0">
              <a:solidFill>
                <a:srgbClr val="FFFFFF"/>
              </a:solidFill>
              <a:latin typeface="Times New Roman" panose="02020603050405020304" pitchFamily="18" charset="0"/>
              <a:cs typeface="Times New Roman" panose="02020603050405020304" pitchFamily="18" charset="0"/>
            </a:endParaRPr>
          </a:p>
          <a:p>
            <a:pPr marL="0" indent="0" algn="just">
              <a:lnSpc>
                <a:spcPct val="90000"/>
              </a:lnSpc>
              <a:buNone/>
            </a:pPr>
            <a:r>
              <a:rPr lang="en-GB" sz="2400" b="1" u="sng" dirty="0">
                <a:solidFill>
                  <a:srgbClr val="FFFFFF"/>
                </a:solidFill>
                <a:latin typeface="Times New Roman" panose="02020603050405020304" pitchFamily="18" charset="0"/>
                <a:cs typeface="Times New Roman" panose="02020603050405020304" pitchFamily="18" charset="0"/>
              </a:rPr>
              <a:t>Risk of Bias</a:t>
            </a:r>
          </a:p>
          <a:p>
            <a:pPr marL="742950" lvl="1" indent="-285750" algn="just">
              <a:lnSpc>
                <a:spcPct val="90000"/>
              </a:lnSpc>
              <a:buFont typeface="Arial" panose="020B0604020202020204" pitchFamily="34" charset="0"/>
              <a:buChar char="•"/>
            </a:pPr>
            <a:r>
              <a:rPr lang="en-GB" sz="2400" dirty="0">
                <a:solidFill>
                  <a:srgbClr val="FFFFFF"/>
                </a:solidFill>
                <a:latin typeface="Times New Roman" panose="02020603050405020304" pitchFamily="18" charset="0"/>
                <a:cs typeface="Times New Roman" panose="02020603050405020304" pitchFamily="18" charset="0"/>
              </a:rPr>
              <a:t>Underrepresentation of certain populations (e.g. race, gender, age).</a:t>
            </a:r>
          </a:p>
          <a:p>
            <a:pPr marL="742950" lvl="1" indent="-285750" algn="just">
              <a:lnSpc>
                <a:spcPct val="90000"/>
              </a:lnSpc>
              <a:buFont typeface="Arial" panose="020B0604020202020204" pitchFamily="34" charset="0"/>
              <a:buChar char="•"/>
            </a:pPr>
            <a:r>
              <a:rPr lang="en-GB" sz="2400" dirty="0">
                <a:solidFill>
                  <a:srgbClr val="FFFFFF"/>
                </a:solidFill>
                <a:latin typeface="Times New Roman" panose="02020603050405020304" pitchFamily="18" charset="0"/>
                <a:cs typeface="Times New Roman" panose="02020603050405020304" pitchFamily="18" charset="0"/>
              </a:rPr>
              <a:t>Imaging quality differences (different equipment across hospitals).</a:t>
            </a:r>
            <a:endParaRPr lang="en-GB" sz="2400" b="1" dirty="0">
              <a:solidFill>
                <a:srgbClr val="FFFFFF"/>
              </a:solidFill>
              <a:latin typeface="Times New Roman" panose="02020603050405020304" pitchFamily="18" charset="0"/>
              <a:cs typeface="Times New Roman" panose="02020603050405020304" pitchFamily="18" charset="0"/>
            </a:endParaRPr>
          </a:p>
          <a:p>
            <a:pPr marL="0" indent="0" algn="just">
              <a:lnSpc>
                <a:spcPct val="90000"/>
              </a:lnSpc>
              <a:buNone/>
            </a:pPr>
            <a:r>
              <a:rPr lang="en-GB" sz="2400" b="1" u="sng" dirty="0">
                <a:solidFill>
                  <a:srgbClr val="FFFFFF"/>
                </a:solidFill>
                <a:latin typeface="Times New Roman" panose="02020603050405020304" pitchFamily="18" charset="0"/>
                <a:cs typeface="Times New Roman" panose="02020603050405020304" pitchFamily="18" charset="0"/>
              </a:rPr>
              <a:t>Solutions</a:t>
            </a:r>
          </a:p>
          <a:p>
            <a:pPr marL="742950" lvl="1" indent="-285750" algn="just">
              <a:lnSpc>
                <a:spcPct val="90000"/>
              </a:lnSpc>
              <a:buFont typeface="Arial" panose="020B0604020202020204" pitchFamily="34" charset="0"/>
              <a:buChar char="•"/>
            </a:pPr>
            <a:r>
              <a:rPr lang="en-GB" sz="2400" dirty="0">
                <a:solidFill>
                  <a:srgbClr val="FFFFFF"/>
                </a:solidFill>
                <a:latin typeface="Times New Roman" panose="02020603050405020304" pitchFamily="18" charset="0"/>
                <a:cs typeface="Times New Roman" panose="02020603050405020304" pitchFamily="18" charset="0"/>
              </a:rPr>
              <a:t>Diverse, representative datasets.</a:t>
            </a:r>
          </a:p>
          <a:p>
            <a:pPr lvl="1" algn="just">
              <a:lnSpc>
                <a:spcPct val="90000"/>
              </a:lnSpc>
              <a:buFont typeface="Arial" panose="020B0604020202020204" pitchFamily="34" charset="0"/>
              <a:buChar char="•"/>
            </a:pPr>
            <a:r>
              <a:rPr lang="en-GB" sz="2400" dirty="0">
                <a:solidFill>
                  <a:srgbClr val="FFFFFF"/>
                </a:solidFill>
                <a:latin typeface="Times New Roman" panose="02020603050405020304" pitchFamily="18" charset="0"/>
                <a:cs typeface="Times New Roman" panose="02020603050405020304" pitchFamily="18" charset="0"/>
              </a:rPr>
              <a:t>Apply data harmonization to images so they are more consistent across different sources. </a:t>
            </a:r>
          </a:p>
          <a:p>
            <a:pPr marL="742950" lvl="1" indent="-285750" algn="just">
              <a:lnSpc>
                <a:spcPct val="90000"/>
              </a:lnSpc>
              <a:buFont typeface="Arial" panose="020B0604020202020204" pitchFamily="34" charset="0"/>
              <a:buChar char="•"/>
            </a:pPr>
            <a:r>
              <a:rPr lang="en-GB" sz="2400" dirty="0">
                <a:solidFill>
                  <a:srgbClr val="FFFFFF"/>
                </a:solidFill>
                <a:latin typeface="Times New Roman" panose="02020603050405020304" pitchFamily="18" charset="0"/>
                <a:cs typeface="Times New Roman" panose="02020603050405020304" pitchFamily="18" charset="0"/>
              </a:rPr>
              <a:t>Regular bias audits on data distributions.</a:t>
            </a:r>
          </a:p>
          <a:p>
            <a:pPr marL="742950" lvl="1" indent="-285750" algn="just">
              <a:lnSpc>
                <a:spcPct val="90000"/>
              </a:lnSpc>
              <a:buFont typeface="Arial" panose="020B0604020202020204" pitchFamily="34" charset="0"/>
              <a:buChar char="•"/>
            </a:pPr>
            <a:r>
              <a:rPr lang="en-GB" sz="2400" dirty="0">
                <a:solidFill>
                  <a:srgbClr val="FFFFFF"/>
                </a:solidFill>
                <a:latin typeface="Times New Roman" panose="02020603050405020304" pitchFamily="18" charset="0"/>
                <a:cs typeface="Times New Roman" panose="02020603050405020304" pitchFamily="18" charset="0"/>
              </a:rPr>
              <a:t>Consent control mechanisms for patient data usage (GDPR compliant).</a:t>
            </a:r>
          </a:p>
          <a:p>
            <a:pPr marL="0" indent="0" algn="just">
              <a:lnSpc>
                <a:spcPct val="90000"/>
              </a:lnSpc>
              <a:buNone/>
            </a:pPr>
            <a:endParaRPr lang="en-GB" sz="2400" b="1" dirty="0">
              <a:solidFill>
                <a:srgbClr val="FFFFFF"/>
              </a:solidFill>
              <a:latin typeface="Times New Roman" panose="02020603050405020304" pitchFamily="18" charset="0"/>
              <a:cs typeface="Times New Roman" panose="02020603050405020304" pitchFamily="18" charset="0"/>
            </a:endParaRPr>
          </a:p>
        </p:txBody>
      </p:sp>
    </p:spTree>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923C80F6-956C-BA86-2F81-A6E525921AFD}"/>
              </a:ext>
            </a:extLst>
          </p:cNvPr>
          <p:cNvPicPr>
            <a:picLocks noChangeAspect="1"/>
          </p:cNvPicPr>
          <p:nvPr/>
        </p:nvPicPr>
        <p:blipFill>
          <a:blip r:embed="rId3">
            <a:alphaModFix amt="35000"/>
          </a:blip>
          <a:srcRect/>
          <a:stretch>
            <a:fillRect/>
          </a:stretch>
        </p:blipFill>
        <p:spPr>
          <a:xfrm>
            <a:off x="20" y="10"/>
            <a:ext cx="9143980" cy="6857990"/>
          </a:xfrm>
          <a:prstGeom prst="rect">
            <a:avLst/>
          </a:prstGeom>
        </p:spPr>
      </p:pic>
      <p:sp>
        <p:nvSpPr>
          <p:cNvPr id="2" name="Title 1">
            <a:extLst>
              <a:ext uri="{FF2B5EF4-FFF2-40B4-BE49-F238E27FC236}">
                <a16:creationId xmlns:a16="http://schemas.microsoft.com/office/drawing/2014/main" id="{681C5EC1-DC3A-FFD0-88FA-EC24E64C6FF8}"/>
              </a:ext>
            </a:extLst>
          </p:cNvPr>
          <p:cNvSpPr>
            <a:spLocks noGrp="1"/>
          </p:cNvSpPr>
          <p:nvPr>
            <p:ph type="title"/>
          </p:nvPr>
        </p:nvSpPr>
        <p:spPr>
          <a:xfrm>
            <a:off x="278524" y="430926"/>
            <a:ext cx="8586951" cy="1053772"/>
          </a:xfrm>
        </p:spPr>
        <p:txBody>
          <a:bodyPr>
            <a:normAutofit fontScale="90000"/>
          </a:bodyPr>
          <a:lstStyle/>
          <a:p>
            <a:pPr>
              <a:lnSpc>
                <a:spcPct val="90000"/>
              </a:lnSpc>
            </a:pPr>
            <a:r>
              <a:rPr lang="en-GB" sz="2800" b="1" u="sng" dirty="0">
                <a:solidFill>
                  <a:srgbClr val="FFFFFF"/>
                </a:solidFill>
                <a:latin typeface="Times New Roman" panose="02020603050405020304" pitchFamily="18" charset="0"/>
                <a:cs typeface="Times New Roman" panose="02020603050405020304" pitchFamily="18" charset="0"/>
              </a:rPr>
              <a:t>2. Model Development – Algorithms Used (CNNs, SVMs)</a:t>
            </a:r>
            <a:br>
              <a:rPr lang="en-GB" sz="2800" b="1" u="sng" dirty="0">
                <a:solidFill>
                  <a:srgbClr val="FFFFFF"/>
                </a:solidFill>
                <a:latin typeface="Times New Roman" panose="02020603050405020304" pitchFamily="18" charset="0"/>
                <a:cs typeface="Times New Roman" panose="02020603050405020304" pitchFamily="18" charset="0"/>
              </a:rPr>
            </a:br>
            <a:endParaRPr lang="en-GB" sz="2800" b="1" u="sng"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D8021AF-EBBE-D03F-AC76-CEEEDC4A9A02}"/>
              </a:ext>
            </a:extLst>
          </p:cNvPr>
          <p:cNvSpPr>
            <a:spLocks noGrp="1"/>
          </p:cNvSpPr>
          <p:nvPr>
            <p:ph idx="1"/>
          </p:nvPr>
        </p:nvSpPr>
        <p:spPr>
          <a:xfrm>
            <a:off x="424682" y="1463679"/>
            <a:ext cx="8294633" cy="4803226"/>
          </a:xfrm>
        </p:spPr>
        <p:txBody>
          <a:bodyPr>
            <a:normAutofit lnSpcReduction="10000"/>
          </a:bodyPr>
          <a:lstStyle/>
          <a:p>
            <a:pPr marL="0" indent="0">
              <a:lnSpc>
                <a:spcPct val="90000"/>
              </a:lnSpc>
              <a:buNone/>
            </a:pPr>
            <a:r>
              <a:rPr lang="en-GB" sz="2400" b="1" u="sng" dirty="0">
                <a:solidFill>
                  <a:srgbClr val="FFFFFF"/>
                </a:solidFill>
                <a:latin typeface="Times New Roman" panose="02020603050405020304" pitchFamily="18" charset="0"/>
                <a:cs typeface="Times New Roman" panose="02020603050405020304" pitchFamily="18" charset="0"/>
              </a:rPr>
              <a:t>Risk of Bias</a:t>
            </a:r>
            <a:endParaRPr lang="en-GB" sz="2400" u="sng" dirty="0">
              <a:solidFill>
                <a:srgbClr val="FFFFFF"/>
              </a:solidFill>
              <a:latin typeface="Times New Roman" panose="02020603050405020304" pitchFamily="18" charset="0"/>
              <a:cs typeface="Times New Roman" panose="02020603050405020304" pitchFamily="18" charset="0"/>
            </a:endParaRPr>
          </a:p>
          <a:p>
            <a:pPr marL="742950" lvl="1" indent="-285750">
              <a:lnSpc>
                <a:spcPct val="90000"/>
              </a:lnSpc>
              <a:buFont typeface="Arial" panose="020B0604020202020204" pitchFamily="34" charset="0"/>
              <a:buChar char="•"/>
            </a:pPr>
            <a:r>
              <a:rPr lang="en-GB" sz="2400" dirty="0">
                <a:solidFill>
                  <a:srgbClr val="FFFFFF"/>
                </a:solidFill>
                <a:latin typeface="Times New Roman" panose="02020603050405020304" pitchFamily="18" charset="0"/>
                <a:cs typeface="Times New Roman" panose="02020603050405020304" pitchFamily="18" charset="0"/>
              </a:rPr>
              <a:t>CNNs may learn spurious correlations (e.g. hospital-specific artefacts).</a:t>
            </a:r>
          </a:p>
          <a:p>
            <a:pPr marL="742950" lvl="1" indent="-285750">
              <a:lnSpc>
                <a:spcPct val="90000"/>
              </a:lnSpc>
              <a:buFont typeface="Arial" panose="020B0604020202020204" pitchFamily="34" charset="0"/>
              <a:buChar char="•"/>
            </a:pPr>
            <a:r>
              <a:rPr lang="en-GB" sz="2400" dirty="0">
                <a:solidFill>
                  <a:srgbClr val="FFFFFF"/>
                </a:solidFill>
                <a:latin typeface="Times New Roman" panose="02020603050405020304" pitchFamily="18" charset="0"/>
                <a:cs typeface="Times New Roman" panose="02020603050405020304" pitchFamily="18" charset="0"/>
              </a:rPr>
              <a:t>SVMs sensitive to hyperparameter tuning and outliers.</a:t>
            </a:r>
          </a:p>
          <a:p>
            <a:pPr marL="742950" lvl="1" indent="-285750">
              <a:lnSpc>
                <a:spcPct val="90000"/>
              </a:lnSpc>
              <a:buFont typeface="Arial" panose="020B0604020202020204" pitchFamily="34" charset="0"/>
              <a:buChar char="•"/>
            </a:pPr>
            <a:endParaRPr lang="en-GB" sz="2400" dirty="0">
              <a:solidFill>
                <a:srgbClr val="FFFFFF"/>
              </a:solidFill>
              <a:latin typeface="Times New Roman" panose="02020603050405020304" pitchFamily="18" charset="0"/>
              <a:cs typeface="Times New Roman" panose="02020603050405020304" pitchFamily="18" charset="0"/>
            </a:endParaRPr>
          </a:p>
          <a:p>
            <a:pPr marL="0" indent="0">
              <a:lnSpc>
                <a:spcPct val="90000"/>
              </a:lnSpc>
              <a:buNone/>
            </a:pPr>
            <a:r>
              <a:rPr lang="en-GB" sz="2400" b="1" u="sng" dirty="0">
                <a:solidFill>
                  <a:srgbClr val="FFFFFF"/>
                </a:solidFill>
                <a:latin typeface="Times New Roman" panose="02020603050405020304" pitchFamily="18" charset="0"/>
                <a:cs typeface="Times New Roman" panose="02020603050405020304" pitchFamily="18" charset="0"/>
              </a:rPr>
              <a:t>Solutions</a:t>
            </a:r>
            <a:endParaRPr lang="en-GB" sz="2400" u="sng" dirty="0">
              <a:solidFill>
                <a:srgbClr val="FFFFFF"/>
              </a:solidFill>
              <a:latin typeface="Times New Roman" panose="02020603050405020304" pitchFamily="18" charset="0"/>
              <a:cs typeface="Times New Roman" panose="02020603050405020304" pitchFamily="18" charset="0"/>
            </a:endParaRPr>
          </a:p>
          <a:p>
            <a:pPr marL="742950" lvl="1" indent="-285750">
              <a:lnSpc>
                <a:spcPct val="90000"/>
              </a:lnSpc>
              <a:buFont typeface="Arial" panose="020B0604020202020204" pitchFamily="34" charset="0"/>
              <a:buChar char="•"/>
            </a:pPr>
            <a:r>
              <a:rPr lang="en-GB" sz="2400" dirty="0">
                <a:solidFill>
                  <a:srgbClr val="FFFFFF"/>
                </a:solidFill>
                <a:latin typeface="Times New Roman" panose="02020603050405020304" pitchFamily="18" charset="0"/>
                <a:cs typeface="Times New Roman" panose="02020603050405020304" pitchFamily="18" charset="0"/>
              </a:rPr>
              <a:t>Use </a:t>
            </a:r>
            <a:r>
              <a:rPr lang="en-GB" sz="2400" b="1" dirty="0">
                <a:solidFill>
                  <a:srgbClr val="FFFFFF"/>
                </a:solidFill>
                <a:latin typeface="Times New Roman" panose="02020603050405020304" pitchFamily="18" charset="0"/>
                <a:cs typeface="Times New Roman" panose="02020603050405020304" pitchFamily="18" charset="0"/>
              </a:rPr>
              <a:t>SHAP</a:t>
            </a:r>
            <a:r>
              <a:rPr lang="en-GB" sz="2400" dirty="0">
                <a:solidFill>
                  <a:srgbClr val="FFFFFF"/>
                </a:solidFill>
                <a:latin typeface="Times New Roman" panose="02020603050405020304" pitchFamily="18" charset="0"/>
                <a:cs typeface="Times New Roman" panose="02020603050405020304" pitchFamily="18" charset="0"/>
              </a:rPr>
              <a:t> (</a:t>
            </a:r>
            <a:r>
              <a:rPr lang="en-GB" sz="2400" dirty="0" err="1">
                <a:solidFill>
                  <a:srgbClr val="FFFFFF"/>
                </a:solidFill>
                <a:latin typeface="Times New Roman" panose="02020603050405020304" pitchFamily="18" charset="0"/>
                <a:cs typeface="Times New Roman" panose="02020603050405020304" pitchFamily="18" charset="0"/>
              </a:rPr>
              <a:t>SHapley</a:t>
            </a:r>
            <a:r>
              <a:rPr lang="en-GB" sz="2400" dirty="0">
                <a:solidFill>
                  <a:srgbClr val="FFFFFF"/>
                </a:solidFill>
                <a:latin typeface="Times New Roman" panose="02020603050405020304" pitchFamily="18" charset="0"/>
                <a:cs typeface="Times New Roman" panose="02020603050405020304" pitchFamily="18" charset="0"/>
              </a:rPr>
              <a:t> Additive </a:t>
            </a:r>
            <a:r>
              <a:rPr lang="en-GB" sz="2400" dirty="0" err="1">
                <a:solidFill>
                  <a:srgbClr val="FFFFFF"/>
                </a:solidFill>
                <a:latin typeface="Times New Roman" panose="02020603050405020304" pitchFamily="18" charset="0"/>
                <a:cs typeface="Times New Roman" panose="02020603050405020304" pitchFamily="18" charset="0"/>
              </a:rPr>
              <a:t>exPlanations</a:t>
            </a:r>
            <a:r>
              <a:rPr lang="en-GB" sz="2400" dirty="0">
                <a:solidFill>
                  <a:srgbClr val="FFFFFF"/>
                </a:solidFill>
                <a:latin typeface="Times New Roman" panose="02020603050405020304" pitchFamily="18" charset="0"/>
                <a:cs typeface="Times New Roman" panose="02020603050405020304" pitchFamily="18" charset="0"/>
              </a:rPr>
              <a:t>) to explain model outputs.</a:t>
            </a:r>
          </a:p>
          <a:p>
            <a:pPr marL="742950" lvl="1" indent="-285750">
              <a:lnSpc>
                <a:spcPct val="90000"/>
              </a:lnSpc>
              <a:buFont typeface="Arial" panose="020B0604020202020204" pitchFamily="34" charset="0"/>
              <a:buChar char="•"/>
            </a:pPr>
            <a:r>
              <a:rPr lang="en-GB" sz="2400" dirty="0">
                <a:solidFill>
                  <a:srgbClr val="FFFFFF"/>
                </a:solidFill>
                <a:latin typeface="Times New Roman" panose="02020603050405020304" pitchFamily="18" charset="0"/>
                <a:cs typeface="Times New Roman" panose="02020603050405020304" pitchFamily="18" charset="0"/>
              </a:rPr>
              <a:t>Use </a:t>
            </a:r>
            <a:r>
              <a:rPr lang="en-GB" sz="2400" b="1" dirty="0">
                <a:solidFill>
                  <a:srgbClr val="FFFFFF"/>
                </a:solidFill>
                <a:latin typeface="Times New Roman" panose="02020603050405020304" pitchFamily="18" charset="0"/>
                <a:cs typeface="Times New Roman" panose="02020603050405020304" pitchFamily="18" charset="0"/>
              </a:rPr>
              <a:t>LIME</a:t>
            </a:r>
            <a:r>
              <a:rPr lang="en-GB" sz="2400" dirty="0">
                <a:solidFill>
                  <a:srgbClr val="FFFFFF"/>
                </a:solidFill>
                <a:latin typeface="Times New Roman" panose="02020603050405020304" pitchFamily="18" charset="0"/>
                <a:cs typeface="Times New Roman" panose="02020603050405020304" pitchFamily="18" charset="0"/>
              </a:rPr>
              <a:t> (Local Interpretable Model-agnostic Explanations) for individual predictions.</a:t>
            </a:r>
          </a:p>
          <a:p>
            <a:pPr marL="742950" lvl="1" indent="-285750">
              <a:lnSpc>
                <a:spcPct val="90000"/>
              </a:lnSpc>
              <a:buFont typeface="Arial" panose="020B0604020202020204" pitchFamily="34" charset="0"/>
              <a:buChar char="•"/>
            </a:pPr>
            <a:r>
              <a:rPr lang="en-GB" sz="2400" b="1" dirty="0">
                <a:solidFill>
                  <a:srgbClr val="FFFFFF"/>
                </a:solidFill>
                <a:latin typeface="Times New Roman" panose="02020603050405020304" pitchFamily="18" charset="0"/>
                <a:cs typeface="Times New Roman" panose="02020603050405020304" pitchFamily="18" charset="0"/>
              </a:rPr>
              <a:t>Regular cross-group performance testing</a:t>
            </a:r>
            <a:r>
              <a:rPr lang="en-GB" sz="2400" dirty="0">
                <a:solidFill>
                  <a:srgbClr val="FFFFFF"/>
                </a:solidFill>
                <a:latin typeface="Times New Roman" panose="02020603050405020304" pitchFamily="18" charset="0"/>
                <a:cs typeface="Times New Roman" panose="02020603050405020304" pitchFamily="18" charset="0"/>
              </a:rPr>
              <a:t> (e.g., across race/gender groups).</a:t>
            </a:r>
          </a:p>
          <a:p>
            <a:pPr marL="742950" lvl="1" indent="-285750">
              <a:lnSpc>
                <a:spcPct val="90000"/>
              </a:lnSpc>
              <a:buFont typeface="Arial" panose="020B0604020202020204" pitchFamily="34" charset="0"/>
              <a:buChar char="•"/>
            </a:pPr>
            <a:r>
              <a:rPr lang="en-GB" sz="2400" dirty="0">
                <a:solidFill>
                  <a:srgbClr val="FFFFFF"/>
                </a:solidFill>
                <a:latin typeface="Times New Roman" panose="02020603050405020304" pitchFamily="18" charset="0"/>
                <a:cs typeface="Times New Roman" panose="02020603050405020304" pitchFamily="18" charset="0"/>
              </a:rPr>
              <a:t>Embed </a:t>
            </a:r>
            <a:r>
              <a:rPr lang="en-GB" sz="2400" b="1" dirty="0">
                <a:solidFill>
                  <a:srgbClr val="FFFFFF"/>
                </a:solidFill>
                <a:latin typeface="Times New Roman" panose="02020603050405020304" pitchFamily="18" charset="0"/>
                <a:cs typeface="Times New Roman" panose="02020603050405020304" pitchFamily="18" charset="0"/>
              </a:rPr>
              <a:t>non-discrimination checks</a:t>
            </a:r>
            <a:r>
              <a:rPr lang="en-GB" sz="2400" dirty="0">
                <a:solidFill>
                  <a:srgbClr val="FFFFFF"/>
                </a:solidFill>
                <a:latin typeface="Times New Roman" panose="02020603050405020304" pitchFamily="18" charset="0"/>
                <a:cs typeface="Times New Roman" panose="02020603050405020304" pitchFamily="18" charset="0"/>
              </a:rPr>
              <a:t> as part of model validation.</a:t>
            </a:r>
          </a:p>
        </p:txBody>
      </p:sp>
    </p:spTree>
    <p:extLst>
      <p:ext uri="{BB962C8B-B14F-4D97-AF65-F5344CB8AC3E}">
        <p14:creationId xmlns:p14="http://schemas.microsoft.com/office/powerpoint/2010/main" val="3688234191"/>
      </p:ext>
    </p:extLst>
  </p:cSld>
  <p:clrMapOvr>
    <a:overrideClrMapping bg1="dk1" tx1="lt1" bg2="dk2" tx2="lt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7145" y="274638"/>
            <a:ext cx="8765627" cy="1143000"/>
          </a:xfrm>
        </p:spPr>
        <p:txBody>
          <a:bodyPr>
            <a:normAutofit fontScale="90000"/>
          </a:bodyPr>
          <a:lstStyle/>
          <a:p>
            <a:r>
              <a:rPr lang="en-GB" b="1" u="sng" dirty="0">
                <a:latin typeface="Times New Roman" panose="02020603050405020304" pitchFamily="18" charset="0"/>
                <a:cs typeface="Times New Roman" panose="02020603050405020304" pitchFamily="18" charset="0"/>
              </a:rPr>
              <a:t>System Architecture of a Fair &amp; Transparent Cancer Imaging AI</a:t>
            </a:r>
            <a:endParaRPr b="1" u="sng" dirty="0">
              <a:latin typeface="Times New Roman" panose="02020603050405020304" pitchFamily="18" charset="0"/>
              <a:cs typeface="Times New Roman" panose="02020603050405020304" pitchFamily="18" charset="0"/>
            </a:endParaRPr>
          </a:p>
        </p:txBody>
      </p:sp>
      <p:pic>
        <p:nvPicPr>
          <p:cNvPr id="3" name="Picture 2" descr="01_architecture.png"/>
          <p:cNvPicPr>
            <a:picLocks noChangeAspect="1"/>
          </p:cNvPicPr>
          <p:nvPr/>
        </p:nvPicPr>
        <p:blipFill>
          <a:blip r:embed="rId2"/>
          <a:srcRect t="7601" r="19451"/>
          <a:stretch/>
        </p:blipFill>
        <p:spPr>
          <a:xfrm>
            <a:off x="147145" y="1660636"/>
            <a:ext cx="9048376" cy="596987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Slide Background">
            <a:extLst>
              <a:ext uri="{FF2B5EF4-FFF2-40B4-BE49-F238E27FC236}">
                <a16:creationId xmlns:a16="http://schemas.microsoft.com/office/drawing/2014/main" id="{7DE220E6-BA55-4F04-B3C4-F4985F3E7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6" name="tint">
            <a:extLst>
              <a:ext uri="{FF2B5EF4-FFF2-40B4-BE49-F238E27FC236}">
                <a16:creationId xmlns:a16="http://schemas.microsoft.com/office/drawing/2014/main" id="{5AE190BC-D2FD-433E-AB89-0DF68EFD6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59233" y="0"/>
            <a:ext cx="784767" cy="6858000"/>
          </a:xfrm>
          <a:prstGeom prst="rect">
            <a:avLst/>
          </a:prstGeom>
          <a:solidFill>
            <a:schemeClr val="bg2">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useBgFill="1">
        <p:nvSpPr>
          <p:cNvPr id="14" name="Rectangle 13">
            <a:extLst>
              <a:ext uri="{FF2B5EF4-FFF2-40B4-BE49-F238E27FC236}">
                <a16:creationId xmlns:a16="http://schemas.microsoft.com/office/drawing/2014/main" id="{43E8FEA2-54EE-4F84-B5DB-A055A7D80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7333" y="0"/>
            <a:ext cx="4556665" cy="6858000"/>
          </a:xfrm>
          <a:prstGeom prst="rect">
            <a:avLst/>
          </a:prstGeom>
          <a:ln>
            <a:noFill/>
          </a:ln>
          <a:effectLst>
            <a:outerShdw blurRad="508000" dist="190500" dir="5460000" sx="93000" sy="93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783B09-3A30-D27D-8A2D-87D034912321}"/>
              </a:ext>
            </a:extLst>
          </p:cNvPr>
          <p:cNvSpPr>
            <a:spLocks noGrp="1"/>
          </p:cNvSpPr>
          <p:nvPr>
            <p:ph type="title"/>
          </p:nvPr>
        </p:nvSpPr>
        <p:spPr>
          <a:xfrm>
            <a:off x="4492741" y="980091"/>
            <a:ext cx="4666591" cy="961696"/>
          </a:xfrm>
        </p:spPr>
        <p:txBody>
          <a:bodyPr anchor="ctr">
            <a:noAutofit/>
          </a:bodyPr>
          <a:lstStyle/>
          <a:p>
            <a:pPr>
              <a:lnSpc>
                <a:spcPct val="90000"/>
              </a:lnSpc>
            </a:pPr>
            <a:r>
              <a:rPr lang="en-GB" sz="2800" b="1" u="sng" dirty="0">
                <a:latin typeface="Times New Roman" panose="02020603050405020304" pitchFamily="18" charset="0"/>
                <a:cs typeface="Times New Roman" panose="02020603050405020304" pitchFamily="18" charset="0"/>
              </a:rPr>
              <a:t>3. Output – Diagnosis &amp; Prediction</a:t>
            </a:r>
            <a:br>
              <a:rPr lang="en-GB" sz="2800" b="1" u="sng" dirty="0">
                <a:latin typeface="Times New Roman" panose="02020603050405020304" pitchFamily="18" charset="0"/>
                <a:cs typeface="Times New Roman" panose="02020603050405020304" pitchFamily="18" charset="0"/>
              </a:rPr>
            </a:br>
            <a:endParaRPr lang="en-GB" sz="2800" u="sng" dirty="0">
              <a:latin typeface="Times New Roman" panose="02020603050405020304" pitchFamily="18" charset="0"/>
              <a:cs typeface="Times New Roman" panose="02020603050405020304" pitchFamily="18" charset="0"/>
            </a:endParaRPr>
          </a:p>
        </p:txBody>
      </p:sp>
      <p:pic>
        <p:nvPicPr>
          <p:cNvPr id="5" name="Picture 4" descr="A person sitting on a swing with a stethoscope above it&#10;&#10;AI-generated content may be incorrect.">
            <a:extLst>
              <a:ext uri="{FF2B5EF4-FFF2-40B4-BE49-F238E27FC236}">
                <a16:creationId xmlns:a16="http://schemas.microsoft.com/office/drawing/2014/main" id="{E8E9D5C8-C84F-B3A1-E7EA-5A6A19343109}"/>
              </a:ext>
            </a:extLst>
          </p:cNvPr>
          <p:cNvPicPr>
            <a:picLocks noChangeAspect="1"/>
          </p:cNvPicPr>
          <p:nvPr/>
        </p:nvPicPr>
        <p:blipFill>
          <a:blip r:embed="rId2"/>
          <a:stretch>
            <a:fillRect/>
          </a:stretch>
        </p:blipFill>
        <p:spPr>
          <a:xfrm>
            <a:off x="0" y="0"/>
            <a:ext cx="4556665" cy="6858000"/>
          </a:xfrm>
          <a:prstGeom prst="rect">
            <a:avLst/>
          </a:prstGeom>
        </p:spPr>
      </p:pic>
      <p:sp>
        <p:nvSpPr>
          <p:cNvPr id="3" name="Content Placeholder 2">
            <a:extLst>
              <a:ext uri="{FF2B5EF4-FFF2-40B4-BE49-F238E27FC236}">
                <a16:creationId xmlns:a16="http://schemas.microsoft.com/office/drawing/2014/main" id="{5B351DA8-27F9-0659-14CF-ADD9DE4373D8}"/>
              </a:ext>
            </a:extLst>
          </p:cNvPr>
          <p:cNvSpPr>
            <a:spLocks noGrp="1"/>
          </p:cNvSpPr>
          <p:nvPr>
            <p:ph idx="1"/>
          </p:nvPr>
        </p:nvSpPr>
        <p:spPr>
          <a:xfrm>
            <a:off x="4803228" y="1787072"/>
            <a:ext cx="4120055" cy="4571685"/>
          </a:xfrm>
        </p:spPr>
        <p:txBody>
          <a:bodyPr anchor="ctr">
            <a:normAutofit/>
          </a:bodyPr>
          <a:lstStyle/>
          <a:p>
            <a:pPr marL="0" indent="0">
              <a:lnSpc>
                <a:spcPct val="90000"/>
              </a:lnSpc>
              <a:buNone/>
            </a:pPr>
            <a:r>
              <a:rPr lang="en-GB" sz="2000" b="1" u="sng" dirty="0">
                <a:latin typeface="Times New Roman" panose="02020603050405020304" pitchFamily="18" charset="0"/>
                <a:cs typeface="Times New Roman" panose="02020603050405020304" pitchFamily="18" charset="0"/>
              </a:rPr>
              <a:t>Risk</a:t>
            </a:r>
            <a:endParaRPr lang="en-GB" sz="2000" u="sng" dirty="0">
              <a:latin typeface="Times New Roman" panose="02020603050405020304" pitchFamily="18" charset="0"/>
              <a:cs typeface="Times New Roman" panose="02020603050405020304" pitchFamily="18" charset="0"/>
            </a:endParaRPr>
          </a:p>
          <a:p>
            <a:pPr marL="742950" lvl="1" indent="-285750">
              <a:lnSpc>
                <a:spcPct val="90000"/>
              </a:lnSpc>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Misdiagnosis affecting marginalised groups more.</a:t>
            </a:r>
          </a:p>
          <a:p>
            <a:pPr marL="742950" lvl="1" indent="-285750">
              <a:lnSpc>
                <a:spcPct val="90000"/>
              </a:lnSpc>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Unexplainable model decisions.</a:t>
            </a:r>
          </a:p>
          <a:p>
            <a:pPr marL="457200" lvl="1" indent="0">
              <a:lnSpc>
                <a:spcPct val="90000"/>
              </a:lnSpc>
              <a:buNone/>
            </a:pPr>
            <a:endParaRPr lang="en-GB" sz="2000" dirty="0">
              <a:latin typeface="Times New Roman" panose="02020603050405020304" pitchFamily="18" charset="0"/>
              <a:cs typeface="Times New Roman" panose="02020603050405020304" pitchFamily="18" charset="0"/>
            </a:endParaRPr>
          </a:p>
          <a:p>
            <a:pPr marL="0" indent="0">
              <a:lnSpc>
                <a:spcPct val="90000"/>
              </a:lnSpc>
              <a:buNone/>
            </a:pPr>
            <a:r>
              <a:rPr lang="en-GB" sz="2000" b="1" u="sng" dirty="0">
                <a:latin typeface="Times New Roman" panose="02020603050405020304" pitchFamily="18" charset="0"/>
                <a:cs typeface="Times New Roman" panose="02020603050405020304" pitchFamily="18" charset="0"/>
              </a:rPr>
              <a:t>Solutions</a:t>
            </a:r>
            <a:endParaRPr lang="en-GB" sz="2000" u="sng" dirty="0">
              <a:latin typeface="Times New Roman" panose="02020603050405020304" pitchFamily="18" charset="0"/>
              <a:cs typeface="Times New Roman" panose="02020603050405020304" pitchFamily="18" charset="0"/>
            </a:endParaRPr>
          </a:p>
          <a:p>
            <a:pPr marL="742950" lvl="1" indent="-285750">
              <a:lnSpc>
                <a:spcPct val="90000"/>
              </a:lnSpc>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Model evaluation metrics across demographic groups</a:t>
            </a:r>
          </a:p>
          <a:p>
            <a:pPr marL="742950" lvl="1" indent="-285750">
              <a:lnSpc>
                <a:spcPct val="90000"/>
              </a:lnSpc>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Flagging uncertainty levels in predictions</a:t>
            </a:r>
          </a:p>
          <a:p>
            <a:pPr marL="742950" lvl="1" indent="-285750">
              <a:lnSpc>
                <a:spcPct val="90000"/>
              </a:lnSpc>
              <a:buFont typeface="Arial" panose="020B0604020202020204" pitchFamily="34" charset="0"/>
              <a:buChar char="•"/>
            </a:pPr>
            <a:r>
              <a:rPr lang="en-GB" sz="2000" dirty="0">
                <a:latin typeface="Times New Roman" panose="02020603050405020304" pitchFamily="18" charset="0"/>
                <a:cs typeface="Times New Roman" panose="02020603050405020304" pitchFamily="18" charset="0"/>
              </a:rPr>
              <a:t>Using SHAP to create audit trails of the AI decision-making process.</a:t>
            </a:r>
          </a:p>
        </p:txBody>
      </p:sp>
    </p:spTree>
    <p:extLst>
      <p:ext uri="{BB962C8B-B14F-4D97-AF65-F5344CB8AC3E}">
        <p14:creationId xmlns:p14="http://schemas.microsoft.com/office/powerpoint/2010/main" val="1210059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65511"/>
            <a:ext cx="9144000" cy="1143000"/>
          </a:xfrm>
        </p:spPr>
        <p:txBody>
          <a:bodyPr>
            <a:noAutofit/>
          </a:bodyPr>
          <a:lstStyle/>
          <a:p>
            <a:r>
              <a:rPr lang="en-GB" sz="2800" b="1" u="sng" dirty="0">
                <a:latin typeface="Times New Roman" panose="02020603050405020304" pitchFamily="18" charset="0"/>
                <a:cs typeface="Times New Roman" panose="02020603050405020304" pitchFamily="18" charset="0"/>
              </a:rPr>
              <a:t>Example of a SHAP Heatmap explaining AI on a Medical Image.</a:t>
            </a:r>
          </a:p>
        </p:txBody>
      </p:sp>
      <p:pic>
        <p:nvPicPr>
          <p:cNvPr id="3" name="Picture 2" descr="02_shap_heatmap.png"/>
          <p:cNvPicPr>
            <a:picLocks noChangeAspect="1"/>
          </p:cNvPicPr>
          <p:nvPr/>
        </p:nvPicPr>
        <p:blipFill>
          <a:blip r:embed="rId2"/>
          <a:stretch>
            <a:fillRect/>
          </a:stretch>
        </p:blipFill>
        <p:spPr>
          <a:xfrm>
            <a:off x="2577871" y="1539946"/>
            <a:ext cx="4851700" cy="4952543"/>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artoon of a doctor giving a shot to a patient&#10;&#10;AI-generated content may be incorrect.">
            <a:extLst>
              <a:ext uri="{FF2B5EF4-FFF2-40B4-BE49-F238E27FC236}">
                <a16:creationId xmlns:a16="http://schemas.microsoft.com/office/drawing/2014/main" id="{27BDADF2-65B1-E357-815C-B948FE4D9A35}"/>
              </a:ext>
            </a:extLst>
          </p:cNvPr>
          <p:cNvPicPr>
            <a:picLocks noChangeAspect="1"/>
          </p:cNvPicPr>
          <p:nvPr/>
        </p:nvPicPr>
        <p:blipFill>
          <a:blip r:embed="rId2">
            <a:alphaModFix amt="35000"/>
          </a:blip>
          <a:srcRect t="11558" b="13442"/>
          <a:stretch>
            <a:fillRect/>
          </a:stretch>
        </p:blipFill>
        <p:spPr>
          <a:xfrm>
            <a:off x="20" y="10"/>
            <a:ext cx="9143980" cy="6857990"/>
          </a:xfrm>
          <a:prstGeom prst="rect">
            <a:avLst/>
          </a:prstGeom>
        </p:spPr>
      </p:pic>
      <p:sp>
        <p:nvSpPr>
          <p:cNvPr id="2" name="Title 1">
            <a:extLst>
              <a:ext uri="{FF2B5EF4-FFF2-40B4-BE49-F238E27FC236}">
                <a16:creationId xmlns:a16="http://schemas.microsoft.com/office/drawing/2014/main" id="{C74D4D3D-792D-0D2C-8543-C5FE8D5A99AC}"/>
              </a:ext>
            </a:extLst>
          </p:cNvPr>
          <p:cNvSpPr>
            <a:spLocks noGrp="1"/>
          </p:cNvSpPr>
          <p:nvPr>
            <p:ph type="title"/>
          </p:nvPr>
        </p:nvSpPr>
        <p:spPr>
          <a:xfrm>
            <a:off x="628650" y="1099147"/>
            <a:ext cx="7886700" cy="1325563"/>
          </a:xfrm>
        </p:spPr>
        <p:txBody>
          <a:bodyPr>
            <a:normAutofit/>
          </a:bodyPr>
          <a:lstStyle/>
          <a:p>
            <a:pPr>
              <a:lnSpc>
                <a:spcPct val="90000"/>
              </a:lnSpc>
            </a:pPr>
            <a:r>
              <a:rPr lang="en-GB" sz="3400" b="1" u="sng" dirty="0">
                <a:solidFill>
                  <a:srgbClr val="FFFFFF"/>
                </a:solidFill>
                <a:latin typeface="Times New Roman" panose="02020603050405020304" pitchFamily="18" charset="0"/>
                <a:cs typeface="Times New Roman" panose="02020603050405020304" pitchFamily="18" charset="0"/>
              </a:rPr>
              <a:t>4. Transparency &amp; Fairness Mechanisms</a:t>
            </a:r>
            <a:br>
              <a:rPr lang="en-GB" sz="3400" b="1" u="sng" dirty="0">
                <a:solidFill>
                  <a:srgbClr val="FFFFFF"/>
                </a:solidFill>
                <a:latin typeface="Times New Roman" panose="02020603050405020304" pitchFamily="18" charset="0"/>
                <a:cs typeface="Times New Roman" panose="02020603050405020304" pitchFamily="18" charset="0"/>
              </a:rPr>
            </a:br>
            <a:endParaRPr lang="en-GB" sz="3400" u="sng"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0D69AE2-C1C8-0B27-66D9-7F753882B069}"/>
              </a:ext>
            </a:extLst>
          </p:cNvPr>
          <p:cNvSpPr>
            <a:spLocks noGrp="1"/>
          </p:cNvSpPr>
          <p:nvPr>
            <p:ph idx="1"/>
          </p:nvPr>
        </p:nvSpPr>
        <p:spPr>
          <a:xfrm>
            <a:off x="628650" y="1837172"/>
            <a:ext cx="7886700" cy="2620251"/>
          </a:xfrm>
        </p:spPr>
        <p:txBody>
          <a:bodyPr>
            <a:noAutofit/>
          </a:bodyPr>
          <a:lstStyle/>
          <a:p>
            <a:pPr marL="0" indent="0">
              <a:lnSpc>
                <a:spcPct val="90000"/>
              </a:lnSpc>
              <a:buNone/>
            </a:pPr>
            <a:r>
              <a:rPr lang="en-GB" sz="2400" b="1" u="sng" dirty="0">
                <a:solidFill>
                  <a:srgbClr val="FFFFFF"/>
                </a:solidFill>
                <a:latin typeface="Times New Roman" panose="02020603050405020304" pitchFamily="18" charset="0"/>
                <a:cs typeface="Times New Roman" panose="02020603050405020304" pitchFamily="18" charset="0"/>
              </a:rPr>
              <a:t>Technical</a:t>
            </a:r>
            <a:endParaRPr lang="en-GB" sz="2400" u="sng" dirty="0">
              <a:solidFill>
                <a:srgbClr val="FFFFFF"/>
              </a:solidFill>
              <a:latin typeface="Times New Roman" panose="02020603050405020304" pitchFamily="18" charset="0"/>
              <a:cs typeface="Times New Roman" panose="02020603050405020304" pitchFamily="18" charset="0"/>
            </a:endParaRPr>
          </a:p>
          <a:p>
            <a:pPr marL="742950" lvl="1" indent="-285750">
              <a:lnSpc>
                <a:spcPct val="90000"/>
              </a:lnSpc>
              <a:buFont typeface="Arial" panose="020B0604020202020204" pitchFamily="34" charset="0"/>
              <a:buChar char="•"/>
            </a:pPr>
            <a:r>
              <a:rPr lang="en-GB" sz="2400" b="1" dirty="0">
                <a:solidFill>
                  <a:srgbClr val="FFFFFF"/>
                </a:solidFill>
                <a:latin typeface="Times New Roman" panose="02020603050405020304" pitchFamily="18" charset="0"/>
                <a:cs typeface="Times New Roman" panose="02020603050405020304" pitchFamily="18" charset="0"/>
              </a:rPr>
              <a:t>Model cards</a:t>
            </a:r>
            <a:r>
              <a:rPr lang="en-GB" sz="2400" dirty="0">
                <a:solidFill>
                  <a:srgbClr val="FFFFFF"/>
                </a:solidFill>
                <a:latin typeface="Times New Roman" panose="02020603050405020304" pitchFamily="18" charset="0"/>
                <a:cs typeface="Times New Roman" panose="02020603050405020304" pitchFamily="18" charset="0"/>
              </a:rPr>
              <a:t> (documentation of model purpose, training data, limitations)</a:t>
            </a:r>
          </a:p>
          <a:p>
            <a:pPr marL="742950" lvl="1" indent="-285750">
              <a:lnSpc>
                <a:spcPct val="90000"/>
              </a:lnSpc>
              <a:buFont typeface="Arial" panose="020B0604020202020204" pitchFamily="34" charset="0"/>
              <a:buChar char="•"/>
            </a:pPr>
            <a:r>
              <a:rPr lang="en-GB" sz="2400" b="1" dirty="0">
                <a:solidFill>
                  <a:srgbClr val="FFFFFF"/>
                </a:solidFill>
                <a:latin typeface="Times New Roman" panose="02020603050405020304" pitchFamily="18" charset="0"/>
                <a:cs typeface="Times New Roman" panose="02020603050405020304" pitchFamily="18" charset="0"/>
              </a:rPr>
              <a:t>Datasheets for datasets</a:t>
            </a:r>
            <a:r>
              <a:rPr lang="en-GB" sz="2400" dirty="0">
                <a:solidFill>
                  <a:srgbClr val="FFFFFF"/>
                </a:solidFill>
                <a:latin typeface="Times New Roman" panose="02020603050405020304" pitchFamily="18" charset="0"/>
                <a:cs typeface="Times New Roman" panose="02020603050405020304" pitchFamily="18" charset="0"/>
              </a:rPr>
              <a:t> (what's in them, how collected, who it represents)</a:t>
            </a:r>
          </a:p>
          <a:p>
            <a:pPr marL="0" indent="0">
              <a:lnSpc>
                <a:spcPct val="90000"/>
              </a:lnSpc>
              <a:buNone/>
            </a:pPr>
            <a:r>
              <a:rPr lang="en-GB" sz="2400" b="1" u="sng" dirty="0">
                <a:solidFill>
                  <a:srgbClr val="FFFFFF"/>
                </a:solidFill>
                <a:latin typeface="Times New Roman" panose="02020603050405020304" pitchFamily="18" charset="0"/>
                <a:cs typeface="Times New Roman" panose="02020603050405020304" pitchFamily="18" charset="0"/>
              </a:rPr>
              <a:t>Legal</a:t>
            </a:r>
            <a:r>
              <a:rPr lang="en-GB" sz="2400" u="sng" dirty="0">
                <a:solidFill>
                  <a:srgbClr val="FFFFFF"/>
                </a:solidFill>
                <a:latin typeface="Times New Roman" panose="02020603050405020304" pitchFamily="18" charset="0"/>
                <a:cs typeface="Times New Roman" panose="02020603050405020304" pitchFamily="18" charset="0"/>
              </a:rPr>
              <a:t>:</a:t>
            </a:r>
          </a:p>
          <a:p>
            <a:pPr marL="742950" lvl="1" indent="-285750">
              <a:lnSpc>
                <a:spcPct val="90000"/>
              </a:lnSpc>
              <a:buFont typeface="Arial" panose="020B0604020202020204" pitchFamily="34" charset="0"/>
              <a:buChar char="•"/>
            </a:pPr>
            <a:r>
              <a:rPr lang="en-GB" sz="2400" b="1" dirty="0">
                <a:solidFill>
                  <a:srgbClr val="FFFFFF"/>
                </a:solidFill>
                <a:latin typeface="Times New Roman" panose="02020603050405020304" pitchFamily="18" charset="0"/>
                <a:cs typeface="Times New Roman" panose="02020603050405020304" pitchFamily="18" charset="0"/>
              </a:rPr>
              <a:t>GDPR</a:t>
            </a:r>
            <a:r>
              <a:rPr lang="en-GB" sz="2400" dirty="0">
                <a:solidFill>
                  <a:srgbClr val="FFFFFF"/>
                </a:solidFill>
                <a:latin typeface="Times New Roman" panose="02020603050405020304" pitchFamily="18" charset="0"/>
                <a:cs typeface="Times New Roman" panose="02020603050405020304" pitchFamily="18" charset="0"/>
              </a:rPr>
              <a:t>: Right to explanation, data minimisation, explicit consent.</a:t>
            </a:r>
          </a:p>
          <a:p>
            <a:pPr marL="742950" lvl="1" indent="-285750">
              <a:lnSpc>
                <a:spcPct val="90000"/>
              </a:lnSpc>
              <a:buFont typeface="Arial" panose="020B0604020202020204" pitchFamily="34" charset="0"/>
              <a:buChar char="•"/>
            </a:pPr>
            <a:r>
              <a:rPr lang="en-GB" sz="2400" b="1" dirty="0">
                <a:solidFill>
                  <a:srgbClr val="FFFFFF"/>
                </a:solidFill>
                <a:latin typeface="Times New Roman" panose="02020603050405020304" pitchFamily="18" charset="0"/>
                <a:cs typeface="Times New Roman" panose="02020603050405020304" pitchFamily="18" charset="0"/>
              </a:rPr>
              <a:t>Bias audits</a:t>
            </a:r>
            <a:r>
              <a:rPr lang="en-GB" sz="2400" dirty="0">
                <a:solidFill>
                  <a:srgbClr val="FFFFFF"/>
                </a:solidFill>
                <a:latin typeface="Times New Roman" panose="02020603050405020304" pitchFamily="18" charset="0"/>
                <a:cs typeface="Times New Roman" panose="02020603050405020304" pitchFamily="18" charset="0"/>
              </a:rPr>
              <a:t> required before deployment.</a:t>
            </a:r>
          </a:p>
          <a:p>
            <a:pPr marL="742950" lvl="1" indent="-285750">
              <a:lnSpc>
                <a:spcPct val="90000"/>
              </a:lnSpc>
              <a:buFont typeface="Arial" panose="020B0604020202020204" pitchFamily="34" charset="0"/>
              <a:buChar char="•"/>
            </a:pPr>
            <a:r>
              <a:rPr lang="en-GB" sz="2400" b="1" dirty="0">
                <a:solidFill>
                  <a:srgbClr val="FFFFFF"/>
                </a:solidFill>
                <a:latin typeface="Times New Roman" panose="02020603050405020304" pitchFamily="18" charset="0"/>
                <a:cs typeface="Times New Roman" panose="02020603050405020304" pitchFamily="18" charset="0"/>
              </a:rPr>
              <a:t>Compliance with medical device regulation</a:t>
            </a:r>
          </a:p>
          <a:p>
            <a:pPr marL="457200" lvl="1" indent="0">
              <a:lnSpc>
                <a:spcPct val="90000"/>
              </a:lnSpc>
              <a:buNone/>
            </a:pPr>
            <a:r>
              <a:rPr lang="en-GB" sz="2400" b="1" dirty="0">
                <a:solidFill>
                  <a:srgbClr val="FFFFFF"/>
                </a:solidFill>
                <a:latin typeface="Times New Roman" panose="02020603050405020304" pitchFamily="18" charset="0"/>
                <a:cs typeface="Times New Roman" panose="02020603050405020304" pitchFamily="18" charset="0"/>
              </a:rPr>
              <a:t>    </a:t>
            </a:r>
            <a:r>
              <a:rPr lang="en-GB" sz="2400" dirty="0">
                <a:solidFill>
                  <a:srgbClr val="FFFFFF"/>
                </a:solidFill>
                <a:latin typeface="Times New Roman" panose="02020603050405020304" pitchFamily="18" charset="0"/>
                <a:cs typeface="Times New Roman" panose="02020603050405020304" pitchFamily="18" charset="0"/>
              </a:rPr>
              <a:t>(e.g. MHRA in the UK, FDA in the US).</a:t>
            </a:r>
          </a:p>
          <a:p>
            <a:pPr marL="0" indent="0">
              <a:lnSpc>
                <a:spcPct val="90000"/>
              </a:lnSpc>
              <a:buNone/>
            </a:pPr>
            <a:endParaRPr lang="en-GB"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3137911"/>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358" y="265497"/>
            <a:ext cx="8923283" cy="1143000"/>
          </a:xfrm>
        </p:spPr>
        <p:txBody>
          <a:bodyPr>
            <a:normAutofit/>
          </a:bodyPr>
          <a:lstStyle/>
          <a:p>
            <a:r>
              <a:rPr lang="en-GB" u="sng" dirty="0">
                <a:latin typeface="Times New Roman" panose="02020603050405020304" pitchFamily="18" charset="0"/>
                <a:cs typeface="Times New Roman" panose="02020603050405020304" pitchFamily="18" charset="0"/>
              </a:rPr>
              <a:t>Example of a </a:t>
            </a:r>
            <a:r>
              <a:rPr u="sng" dirty="0">
                <a:latin typeface="Times New Roman" panose="02020603050405020304" pitchFamily="18" charset="0"/>
                <a:cs typeface="Times New Roman" panose="02020603050405020304" pitchFamily="18" charset="0"/>
              </a:rPr>
              <a:t>Bias Audit Chart</a:t>
            </a:r>
          </a:p>
        </p:txBody>
      </p:sp>
      <p:pic>
        <p:nvPicPr>
          <p:cNvPr id="3" name="Picture 2" descr="03_bias_audit_chart.png"/>
          <p:cNvPicPr>
            <a:picLocks noChangeAspect="1"/>
          </p:cNvPicPr>
          <p:nvPr/>
        </p:nvPicPr>
        <p:blipFill>
          <a:blip r:embed="rId2"/>
          <a:stretch>
            <a:fillRect/>
          </a:stretch>
        </p:blipFill>
        <p:spPr>
          <a:xfrm>
            <a:off x="788276" y="1602828"/>
            <a:ext cx="7672552" cy="498967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96CF2A2B-0745-440C-9224-C5C6A0A428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171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5BE6D6B-84C9-4D2B-97EB-773B7369EF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descr="A statue of a person holding scales&#10;&#10;AI-generated content may be incorrect.">
            <a:extLst>
              <a:ext uri="{FF2B5EF4-FFF2-40B4-BE49-F238E27FC236}">
                <a16:creationId xmlns:a16="http://schemas.microsoft.com/office/drawing/2014/main" id="{281264C5-0374-FB94-FEF6-5893E0487C20}"/>
              </a:ext>
            </a:extLst>
          </p:cNvPr>
          <p:cNvPicPr>
            <a:picLocks noChangeAspect="1"/>
          </p:cNvPicPr>
          <p:nvPr/>
        </p:nvPicPr>
        <p:blipFill>
          <a:blip r:embed="rId2">
            <a:alphaModFix amt="60000"/>
          </a:blip>
          <a:srcRect t="8170" b="31830"/>
          <a:stretch>
            <a:fillRect/>
          </a:stretch>
        </p:blipFill>
        <p:spPr>
          <a:xfrm>
            <a:off x="20" y="10"/>
            <a:ext cx="9143980" cy="6857990"/>
          </a:xfrm>
          <a:prstGeom prst="rect">
            <a:avLst/>
          </a:prstGeom>
        </p:spPr>
      </p:pic>
      <p:sp>
        <p:nvSpPr>
          <p:cNvPr id="2" name="Title 1">
            <a:extLst>
              <a:ext uri="{FF2B5EF4-FFF2-40B4-BE49-F238E27FC236}">
                <a16:creationId xmlns:a16="http://schemas.microsoft.com/office/drawing/2014/main" id="{E23693AB-FEE9-605B-743D-9FFB61B0F377}"/>
              </a:ext>
            </a:extLst>
          </p:cNvPr>
          <p:cNvSpPr>
            <a:spLocks noGrp="1"/>
          </p:cNvSpPr>
          <p:nvPr>
            <p:ph type="title"/>
          </p:nvPr>
        </p:nvSpPr>
        <p:spPr>
          <a:xfrm>
            <a:off x="898635" y="728906"/>
            <a:ext cx="7344354" cy="2057037"/>
          </a:xfrm>
        </p:spPr>
        <p:txBody>
          <a:bodyPr>
            <a:normAutofit/>
          </a:bodyPr>
          <a:lstStyle/>
          <a:p>
            <a:r>
              <a:rPr lang="en-GB" b="1" u="sng">
                <a:solidFill>
                  <a:srgbClr val="FFFFFF"/>
                </a:solidFill>
                <a:latin typeface="Times New Roman" panose="02020603050405020304" pitchFamily="18" charset="0"/>
                <a:cs typeface="Times New Roman" panose="02020603050405020304" pitchFamily="18" charset="0"/>
              </a:rPr>
              <a:t>5. Governance &amp; Monitoring</a:t>
            </a:r>
          </a:p>
        </p:txBody>
      </p:sp>
      <p:sp>
        <p:nvSpPr>
          <p:cNvPr id="3" name="Content Placeholder 2">
            <a:extLst>
              <a:ext uri="{FF2B5EF4-FFF2-40B4-BE49-F238E27FC236}">
                <a16:creationId xmlns:a16="http://schemas.microsoft.com/office/drawing/2014/main" id="{B5614479-201A-AC23-0EBA-4C0F16BC69E8}"/>
              </a:ext>
            </a:extLst>
          </p:cNvPr>
          <p:cNvSpPr>
            <a:spLocks noGrp="1"/>
          </p:cNvSpPr>
          <p:nvPr>
            <p:ph idx="1"/>
          </p:nvPr>
        </p:nvSpPr>
        <p:spPr>
          <a:xfrm>
            <a:off x="462454" y="2396359"/>
            <a:ext cx="8135007" cy="3732729"/>
          </a:xfrm>
        </p:spPr>
        <p:txBody>
          <a:bodyPr>
            <a:normAutofit/>
          </a:bodyPr>
          <a:lstStyle/>
          <a:p>
            <a:pPr marL="742950" lvl="1" indent="-285750" algn="just">
              <a:buFont typeface="Arial" panose="020B0604020202020204" pitchFamily="34" charset="0"/>
              <a:buChar char="•"/>
            </a:pPr>
            <a:r>
              <a:rPr lang="en-GB" sz="3200" dirty="0">
                <a:solidFill>
                  <a:srgbClr val="FFFFFF"/>
                </a:solidFill>
                <a:latin typeface="Times New Roman" panose="02020603050405020304" pitchFamily="18" charset="0"/>
                <a:cs typeface="Times New Roman" panose="02020603050405020304" pitchFamily="18" charset="0"/>
              </a:rPr>
              <a:t>Establish a Healthcare AI Ethics Board.</a:t>
            </a:r>
          </a:p>
          <a:p>
            <a:pPr marL="742950" lvl="1" indent="-285750" algn="just">
              <a:buFont typeface="Arial" panose="020B0604020202020204" pitchFamily="34" charset="0"/>
              <a:buChar char="•"/>
            </a:pPr>
            <a:r>
              <a:rPr lang="en-GB" sz="3200" dirty="0">
                <a:solidFill>
                  <a:srgbClr val="FFFFFF"/>
                </a:solidFill>
                <a:latin typeface="Times New Roman" panose="02020603050405020304" pitchFamily="18" charset="0"/>
                <a:cs typeface="Times New Roman" panose="02020603050405020304" pitchFamily="18" charset="0"/>
              </a:rPr>
              <a:t>Continuous post-deployment monitoring.</a:t>
            </a:r>
          </a:p>
          <a:p>
            <a:pPr marL="742950" lvl="1" indent="-285750" algn="just">
              <a:buFont typeface="Arial" panose="020B0604020202020204" pitchFamily="34" charset="0"/>
              <a:buChar char="•"/>
            </a:pPr>
            <a:r>
              <a:rPr lang="en-GB" sz="3200" dirty="0">
                <a:solidFill>
                  <a:srgbClr val="FFFFFF"/>
                </a:solidFill>
                <a:latin typeface="Times New Roman" panose="02020603050405020304" pitchFamily="18" charset="0"/>
                <a:cs typeface="Times New Roman" panose="02020603050405020304" pitchFamily="18" charset="0"/>
              </a:rPr>
              <a:t>Update models based on new data or emerging inequalities.</a:t>
            </a:r>
          </a:p>
          <a:p>
            <a:pPr marL="742950" lvl="1" indent="-285750" algn="just">
              <a:buFont typeface="Arial" panose="020B0604020202020204" pitchFamily="34" charset="0"/>
              <a:buChar char="•"/>
            </a:pPr>
            <a:r>
              <a:rPr lang="en-GB" sz="3200" dirty="0">
                <a:solidFill>
                  <a:srgbClr val="FFFFFF"/>
                </a:solidFill>
                <a:latin typeface="Times New Roman" panose="02020603050405020304" pitchFamily="18" charset="0"/>
                <a:cs typeface="Times New Roman" panose="02020603050405020304" pitchFamily="18" charset="0"/>
              </a:rPr>
              <a:t>Involve patients and clinicians in co-design processes.</a:t>
            </a:r>
          </a:p>
          <a:p>
            <a:pPr marL="0" indent="0" algn="just">
              <a:buNone/>
            </a:pPr>
            <a:endParaRPr lang="en-GB"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943679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software development process&#10;&#10;AI-generated content may be incorrect.">
            <a:extLst>
              <a:ext uri="{FF2B5EF4-FFF2-40B4-BE49-F238E27FC236}">
                <a16:creationId xmlns:a16="http://schemas.microsoft.com/office/drawing/2014/main" id="{A233559D-7EBF-A88C-4234-B34BD94CD002}"/>
              </a:ext>
            </a:extLst>
          </p:cNvPr>
          <p:cNvPicPr>
            <a:picLocks noChangeAspect="1"/>
          </p:cNvPicPr>
          <p:nvPr/>
        </p:nvPicPr>
        <p:blipFill>
          <a:blip r:embed="rId2"/>
          <a:stretch>
            <a:fillRect/>
          </a:stretch>
        </p:blipFill>
        <p:spPr>
          <a:xfrm>
            <a:off x="1525087" y="-168166"/>
            <a:ext cx="6715023" cy="7178566"/>
          </a:xfrm>
          <a:prstGeom prst="rect">
            <a:avLst/>
          </a:prstGeom>
        </p:spPr>
      </p:pic>
    </p:spTree>
    <p:extLst>
      <p:ext uri="{BB962C8B-B14F-4D97-AF65-F5344CB8AC3E}">
        <p14:creationId xmlns:p14="http://schemas.microsoft.com/office/powerpoint/2010/main" val="11192816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thank you card with sunflowers and sunflowers&#10;&#10;AI-generated content may be incorrect.">
            <a:extLst>
              <a:ext uri="{FF2B5EF4-FFF2-40B4-BE49-F238E27FC236}">
                <a16:creationId xmlns:a16="http://schemas.microsoft.com/office/drawing/2014/main" id="{1EE32754-DBB9-4C57-0246-81E613DD28F9}"/>
              </a:ext>
            </a:extLst>
          </p:cNvPr>
          <p:cNvPicPr>
            <a:picLocks noChangeAspect="1"/>
          </p:cNvPicPr>
          <p:nvPr/>
        </p:nvPicPr>
        <p:blipFill>
          <a:blip r:embed="rId2"/>
          <a:stretch>
            <a:fillRect/>
          </a:stretch>
        </p:blipFill>
        <p:spPr>
          <a:xfrm>
            <a:off x="1254242" y="643466"/>
            <a:ext cx="6635514" cy="5571067"/>
          </a:xfrm>
          <a:prstGeom prst="rect">
            <a:avLst/>
          </a:prstGeom>
        </p:spPr>
      </p:pic>
    </p:spTree>
    <p:extLst>
      <p:ext uri="{BB962C8B-B14F-4D97-AF65-F5344CB8AC3E}">
        <p14:creationId xmlns:p14="http://schemas.microsoft.com/office/powerpoint/2010/main" val="28884863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person in a suit with his arms out">
            <a:extLst>
              <a:ext uri="{FF2B5EF4-FFF2-40B4-BE49-F238E27FC236}">
                <a16:creationId xmlns:a16="http://schemas.microsoft.com/office/drawing/2014/main" id="{773E76FA-5070-D32B-B070-772940F49038}"/>
              </a:ext>
            </a:extLst>
          </p:cNvPr>
          <p:cNvPicPr>
            <a:picLocks noChangeAspect="1"/>
          </p:cNvPicPr>
          <p:nvPr/>
        </p:nvPicPr>
        <p:blipFill>
          <a:blip r:embed="rId2"/>
          <a:srcRect b="6902"/>
          <a:stretch/>
        </p:blipFill>
        <p:spPr>
          <a:xfrm>
            <a:off x="0" y="1"/>
            <a:ext cx="9144000" cy="6858000"/>
          </a:xfrm>
          <a:prstGeom prst="rect">
            <a:avLst/>
          </a:prstGeom>
        </p:spPr>
      </p:pic>
    </p:spTree>
    <p:extLst>
      <p:ext uri="{BB962C8B-B14F-4D97-AF65-F5344CB8AC3E}">
        <p14:creationId xmlns:p14="http://schemas.microsoft.com/office/powerpoint/2010/main" val="37855520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42E1A501BF2E54E9E09F9FB15D938FD" ma:contentTypeVersion="11" ma:contentTypeDescription="Create a new document." ma:contentTypeScope="" ma:versionID="b4cd8c4b19766fb1c789b635a40e03ad">
  <xsd:schema xmlns:xsd="http://www.w3.org/2001/XMLSchema" xmlns:xs="http://www.w3.org/2001/XMLSchema" xmlns:p="http://schemas.microsoft.com/office/2006/metadata/properties" xmlns:ns3="edff30e4-b7de-4ca2-bcdc-bc62190464f7" targetNamespace="http://schemas.microsoft.com/office/2006/metadata/properties" ma:root="true" ma:fieldsID="74b130bdbf06ba2b9bf3abc2e53f7fb7" ns3:_="">
    <xsd:import namespace="edff30e4-b7de-4ca2-bcdc-bc62190464f7"/>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OCR"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ff30e4-b7de-4ca2-bcdc-bc62190464f7"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dff30e4-b7de-4ca2-bcdc-bc62190464f7" xsi:nil="true"/>
  </documentManagement>
</p:properties>
</file>

<file path=customXml/itemProps1.xml><?xml version="1.0" encoding="utf-8"?>
<ds:datastoreItem xmlns:ds="http://schemas.openxmlformats.org/officeDocument/2006/customXml" ds:itemID="{A55DEE03-58E2-4A5E-BCA6-6E5E86EC8892}">
  <ds:schemaRefs>
    <ds:schemaRef ds:uri="http://schemas.microsoft.com/sharepoint/v3/contenttype/forms"/>
  </ds:schemaRefs>
</ds:datastoreItem>
</file>

<file path=customXml/itemProps2.xml><?xml version="1.0" encoding="utf-8"?>
<ds:datastoreItem xmlns:ds="http://schemas.openxmlformats.org/officeDocument/2006/customXml" ds:itemID="{BE6437BB-4163-43B5-82A8-D5251EE5BC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ff30e4-b7de-4ca2-bcdc-bc62190464f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3356231-B059-4435-BE05-2DF10A8D84BE}">
  <ds:schemaRefs>
    <ds:schemaRef ds:uri="http://schemas.openxmlformats.org/package/2006/metadata/core-properties"/>
    <ds:schemaRef ds:uri="http://purl.org/dc/elements/1.1/"/>
    <ds:schemaRef ds:uri="edff30e4-b7de-4ca2-bcdc-bc62190464f7"/>
    <ds:schemaRef ds:uri="http://schemas.microsoft.com/office/2006/documentManagement/types"/>
    <ds:schemaRef ds:uri="http://www.w3.org/XML/1998/namespace"/>
    <ds:schemaRef ds:uri="http://purl.org/dc/dcmitype/"/>
    <ds:schemaRef ds:uri="http://schemas.microsoft.com/office/infopath/2007/PartnerControls"/>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821</TotalTime>
  <Words>2471</Words>
  <Application>Microsoft Office PowerPoint</Application>
  <PresentationFormat>On-screen Show (4:3)</PresentationFormat>
  <Paragraphs>193</Paragraphs>
  <Slides>24</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Arial</vt:lpstr>
      <vt:lpstr>Calibri</vt:lpstr>
      <vt:lpstr>Google Sans Text</vt:lpstr>
      <vt:lpstr>Times New Roman</vt:lpstr>
      <vt:lpstr>Office Theme</vt:lpstr>
      <vt:lpstr>Tackling Transparency and Bias In Healthcare AI using Technical Strategies and Legal Solutions.</vt:lpstr>
      <vt:lpstr>Understanding Bias In Healthcare AI </vt:lpstr>
      <vt:lpstr>Effects of Bias in Healthcare AI</vt:lpstr>
      <vt:lpstr>Sources of Bias</vt:lpstr>
      <vt:lpstr>Fairness</vt:lpstr>
      <vt:lpstr>Why is Fairness In Healthcare AI Important?</vt:lpstr>
      <vt:lpstr>Transparency in Healthcare AI</vt:lpstr>
      <vt:lpstr>Challenges to Achieving Transparency in Healthcare AI</vt:lpstr>
      <vt:lpstr>Mitigating Bias and Achieving Fairness &amp; Transparency using Legal and Technical Tools.</vt:lpstr>
      <vt:lpstr>Applications of AI in Cancer Imaging.</vt:lpstr>
      <vt:lpstr>Benefits of Using AI in Cancer Imaging</vt:lpstr>
      <vt:lpstr>Challenges of Using AI in Cancer Imaging</vt:lpstr>
      <vt:lpstr>Conceptual Framework of a Fair and Transparent AI Cancer Imaging Model</vt:lpstr>
      <vt:lpstr>1. Input Stage – Data Collection</vt:lpstr>
      <vt:lpstr>2. Model Development – Algorithms Used (CNNs, SVMs) </vt:lpstr>
      <vt:lpstr>System Architecture of a Fair &amp; Transparent Cancer Imaging AI</vt:lpstr>
      <vt:lpstr>3. Output – Diagnosis &amp; Prediction </vt:lpstr>
      <vt:lpstr>Example of a SHAP Heatmap explaining AI on a Medical Image.</vt:lpstr>
      <vt:lpstr>4. Transparency &amp; Fairness Mechanisms </vt:lpstr>
      <vt:lpstr>Example of a Bias Audit Chart</vt:lpstr>
      <vt:lpstr>5. Governance &amp; Monitoring</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Oluwateniola Oyinkansola Obiwole</dc:creator>
  <cp:keywords/>
  <dc:description>generated using python-pptx</dc:description>
  <cp:lastModifiedBy>Oluwateniola Oyinkansola Obiwole</cp:lastModifiedBy>
  <cp:revision>6</cp:revision>
  <dcterms:created xsi:type="dcterms:W3CDTF">2013-01-27T09:14:16Z</dcterms:created>
  <dcterms:modified xsi:type="dcterms:W3CDTF">2025-06-02T17:38:53Z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0x010100242E1A501BF2E54E9E09F9FB15D938FD</vt:lpwstr>
  </property>
</Properties>
</file>